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2A177CD-78F5-F290-3F7F-85E22A7AA6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72F4016-603F-A170-4C67-E38B2999D6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E1C0B-6169-49F2-BB92-567555A48C02}" type="datetimeFigureOut">
              <a:rPr lang="es-MX" smtClean="0"/>
              <a:t>05/04/2026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A0662B-1003-47CF-771F-790A6F313C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48F6C9E-5352-8385-C49C-11761856AE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BB361F-541E-4C94-B419-26869A6A8A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03981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90699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0" y="6355080"/>
            <a:ext cx="11109960" cy="0"/>
          </a:xfrm>
          <a:prstGeom prst="line">
            <a:avLst/>
          </a:prstGeom>
          <a:noFill/>
          <a:ln w="12700">
            <a:solidFill>
              <a:srgbClr val="29324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5A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SIMCOMP · Redes e Infraestructuras · UAO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0" y="641908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5A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v1.0 · 11 mar 2026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94360"/>
            <a:ext cx="10972800" cy="5394960"/>
          </a:xfrm>
          <a:prstGeom prst="roundRect">
            <a:avLst>
              <a:gd name="adj" fmla="val 1356"/>
            </a:avLst>
          </a:prstGeom>
          <a:solidFill>
            <a:srgbClr val="0D1423"/>
          </a:solidFill>
          <a:ln w="12700">
            <a:solidFill>
              <a:srgbClr val="2530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SIMCOMP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F5A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de Comparendos</a:t>
            </a:r>
            <a:endParaRPr lang="en-US" sz="2150" dirty="0"/>
          </a:p>
          <a:p>
            <a:pPr marL="0" indent="0">
              <a:buNone/>
            </a:pPr>
            <a:r>
              <a:rPr lang="en-US" sz="2150" b="1" dirty="0">
                <a:solidFill>
                  <a:srgbClr val="F5A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Tránsito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822960" y="299923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de microservicios REST para gestión de comparendos, autenticación, frontend React y despliegue en Docker o Vagrant + Ansible.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172200" y="914400"/>
            <a:ext cx="4892040" cy="4526280"/>
          </a:xfrm>
          <a:prstGeom prst="roundRect">
            <a:avLst>
              <a:gd name="adj" fmla="val 1616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400800" y="1115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ejecutivo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87084" y="1572768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0F172A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565392" y="170078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Aptos Display" pitchFamily="34" charset="0"/>
              </a:rPr>
              <a:t>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65392" y="202996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microservicios backend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68512" y="1554480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0F172A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4" name="Text 12"/>
          <p:cNvSpPr/>
          <p:nvPr/>
        </p:nvSpPr>
        <p:spPr>
          <a:xfrm>
            <a:off x="8833104" y="170078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9E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833104" y="202996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clusters PostgreSQL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468880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0F172A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565392" y="261518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ECB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65392" y="294436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VMs en Vagrant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68512" y="2468880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0F172A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8833104" y="261518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JWT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833104" y="294436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y sesiones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3566160"/>
            <a:ext cx="443484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583680" y="3749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Autores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9776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Deyton Riascos Ortiz — 2246208
Samuel Izquierdo Bonilla — 2246993
Mauricio Taborda Gongora — 2246998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48920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E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Autónoma de Occidente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D8E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Ingeniería de Datos e Inteligencia Artificial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D8E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Redes e Infraestructuras · 11 de marzo de 2026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475720" y="2743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Problema, alcance y principios de diseño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organiza la gestión de tránsito con servicios desacoplados, datos propios y validación entre dominios.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36118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50392" y="2048256"/>
            <a:ext cx="3282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PROPÓSITO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0392" y="2231136"/>
            <a:ext cx="3282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resuelve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392" y="2615184"/>
            <a:ext cx="3282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Centraliza personas, automotores, infracciones, autenticación y comparendos en una solución ejecutable localmente o en 3 VMs provisionadas.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4480560" y="19202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480560" y="1920240"/>
            <a:ext cx="3429000" cy="5486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645152" y="2048256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45152" y="2231136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Restricciones clave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45152" y="2615184"/>
            <a:ext cx="3099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microservicio es dueño de sus datos. Las referencias entre servicios se manejan con UUID y APIs REST síncronas; no hay llaves foráneas cruzadas.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8092440" y="1920240"/>
            <a:ext cx="3383280" cy="2148840"/>
          </a:xfrm>
          <a:prstGeom prst="roundRect">
            <a:avLst>
              <a:gd name="adj" fmla="val 3404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8092440" y="1920240"/>
            <a:ext cx="3383280" cy="54864"/>
          </a:xfrm>
          <a:prstGeom prst="rect">
            <a:avLst/>
          </a:prstGeom>
          <a:solidFill>
            <a:srgbClr val="5ECB7C"/>
          </a:solidFill>
          <a:ln w="12700">
            <a:solidFill>
              <a:srgbClr val="5ECB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257032" y="2048256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C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57032" y="2231136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Tecnologías base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57032" y="2615184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22 · Express 4 · PostgreSQL 14 · Vagrant · Ansible · Swagger/OpenAPI · Frontend React 19 + TypeScript + Vite.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685800" y="4389120"/>
            <a:ext cx="1078992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914400" y="4727448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1060704" y="4617720"/>
            <a:ext cx="10094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Comunicación entre servicios exclusivamente vía REST/HTTP.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4983480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060704" y="4873752"/>
            <a:ext cx="10094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 monetarios modelados con DECIMAL(12,2).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5239512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060704" y="5129784"/>
            <a:ext cx="10094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servicio expone health check y documentación Swagger.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14400" y="549554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1060704" y="5385816"/>
            <a:ext cx="10094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consistencia se garantiza a nivel de servicio y reglas de negocio.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75720" y="2743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Topología general de despliegue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Producción académica sobre 3 VMs: DNS, API + bases de datos y Web/Gateway; además puede ejecutarse en Docker para entorno local.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Navegador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usuario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33856" y="2980944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133856" y="29946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simcomp.co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2770632"/>
            <a:ext cx="27432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5458968" y="2770632"/>
            <a:ext cx="41148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7360920" y="4005072"/>
            <a:ext cx="0" cy="219456"/>
          </a:xfrm>
          <a:prstGeom prst="line">
            <a:avLst/>
          </a:prstGeom>
          <a:noFill/>
          <a:ln w="12700">
            <a:solidFill>
              <a:srgbClr val="4A9E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971800" y="214884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2971800" y="2148840"/>
            <a:ext cx="24688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136392" y="227685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 WEB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36392" y="245973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srv-simcomp-web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136392" y="2843784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192.168.100.4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Nginx + React SPA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hacia </a:t>
            </a:r>
            <a:r>
              <a:rPr lang="en-US" sz="1260" dirty="0" err="1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</a:t>
            </a: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8001–8006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5989320" y="1993392"/>
            <a:ext cx="2743200" cy="2176272"/>
          </a:xfrm>
          <a:prstGeom prst="roundRect">
            <a:avLst>
              <a:gd name="adj" fmla="val 3361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989320" y="1993392"/>
            <a:ext cx="2743200" cy="5486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153912" y="212140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 API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53912" y="230428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srv-simcomp-api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53912" y="2688336"/>
            <a:ext cx="241401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192.168.100.3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microservicios Node.js + PM2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clusters PostgreSQL independientes</a:t>
            </a:r>
            <a:endParaRPr lang="en-US" sz="1260" dirty="0"/>
          </a:p>
        </p:txBody>
      </p:sp>
      <p:sp>
        <p:nvSpPr>
          <p:cNvPr id="22" name="Shape 20"/>
          <p:cNvSpPr/>
          <p:nvPr/>
        </p:nvSpPr>
        <p:spPr>
          <a:xfrm>
            <a:off x="9098280" y="214884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9098280" y="2148840"/>
            <a:ext cx="2331720" cy="54864"/>
          </a:xfrm>
          <a:prstGeom prst="rect">
            <a:avLst/>
          </a:prstGeom>
          <a:solidFill>
            <a:srgbClr val="5ECB7C"/>
          </a:solidFill>
          <a:ln w="12700">
            <a:solidFill>
              <a:srgbClr val="5ECB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9262872" y="2276856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C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 DNS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62872" y="2459736"/>
            <a:ext cx="2002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srv-simcomp-dns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62872" y="2843784"/>
            <a:ext cx="200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192.168.100.2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BIND9 · zona local simcomp.co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Resolución de dominio en laboratorio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6080760" y="4315968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309360" y="44988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Tráfico clave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47365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80" dirty="0">
                <a:solidFill>
                  <a:srgbClr val="D8E2F0"/>
                </a:solidFill>
              </a:rPr>
              <a:t>Frontend por Nginx + JWT. Backend </a:t>
            </a:r>
            <a:r>
              <a:rPr lang="en-US" sz="1280" dirty="0" err="1">
                <a:solidFill>
                  <a:srgbClr val="D8E2F0"/>
                </a:solidFill>
              </a:rPr>
              <a:t>en</a:t>
            </a:r>
            <a:r>
              <a:rPr lang="en-US" sz="1280" dirty="0">
                <a:solidFill>
                  <a:srgbClr val="D8E2F0"/>
                </a:solidFill>
              </a:rPr>
              <a:t> 8001–8006. Clusters PostgreSQL en 5432–5436.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11475720" y="2743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microservicios y sus puertos correctos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servicios corren en 8001–8005.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832104" y="2066544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32104" y="20802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" y="240487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ms-auth-service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2104" y="2779776"/>
            <a:ext cx="1856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Usuarios, login, refresh token, validación JWT y roles del sistema.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63240" y="192024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209544" y="2066544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5ECB7C">
              <a:alpha val="16000"/>
            </a:srgbClr>
          </a:solidFill>
          <a:ln w="12700">
            <a:solidFill>
              <a:srgbClr val="5ECB7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09544" y="20802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C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9544" y="240487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ms-personas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9544" y="2779776"/>
            <a:ext cx="1856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Ciudadanos, datos personales y licencias de conducción.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40680" y="192024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5586984" y="2066544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4A9EFF">
              <a:alpha val="16000"/>
            </a:srgbClr>
          </a:solidFill>
          <a:ln w="12700">
            <a:solidFill>
              <a:srgbClr val="4A9E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586984" y="20802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86984" y="240487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ms-automotores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86984" y="2779776"/>
            <a:ext cx="1856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técnico del vehículo y asociación con propietario.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18120" y="1920240"/>
            <a:ext cx="214884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7964424" y="2066544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964424" y="20802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64424" y="240487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ms-infracciones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64424" y="2779776"/>
            <a:ext cx="1856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 oficial de infracciones y multas vigentes.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74519" y="4069080"/>
            <a:ext cx="3191257" cy="1508760"/>
          </a:xfrm>
          <a:prstGeom prst="roundRect">
            <a:avLst>
              <a:gd name="adj" fmla="val 5161"/>
            </a:avLst>
          </a:prstGeom>
          <a:solidFill>
            <a:srgbClr val="151620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2020824" y="4215384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E8504A">
              <a:alpha val="16000"/>
            </a:srgbClr>
          </a:solidFill>
          <a:ln w="12700">
            <a:solidFill>
              <a:srgbClr val="E85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2020824" y="42291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5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20824" y="4583176"/>
            <a:ext cx="2124456" cy="28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ms-comparendos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020824" y="4928616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del negocio: registra comparendos y maneja el ciclo de vida.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011680" y="5689600"/>
            <a:ext cx="8092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D8E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servicio de comparendos depende lógicamente de personas, automotores e infracciones, y además la plataforma incorpora autenticación como quinto microservicio de backend.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1475720" y="2743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Shape 23">
            <a:extLst>
              <a:ext uri="{FF2B5EF4-FFF2-40B4-BE49-F238E27FC236}">
                <a16:creationId xmlns:a16="http://schemas.microsoft.com/office/drawing/2014/main" id="{1005FAA3-14B5-43AC-C151-55C3A45269CF}"/>
              </a:ext>
            </a:extLst>
          </p:cNvPr>
          <p:cNvSpPr/>
          <p:nvPr/>
        </p:nvSpPr>
        <p:spPr>
          <a:xfrm>
            <a:off x="5530597" y="4110228"/>
            <a:ext cx="3191257" cy="1508760"/>
          </a:xfrm>
          <a:prstGeom prst="roundRect">
            <a:avLst>
              <a:gd name="adj" fmla="val 5161"/>
            </a:avLst>
          </a:prstGeom>
          <a:solidFill>
            <a:srgbClr val="151620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0" name="Shape 24">
            <a:extLst>
              <a:ext uri="{FF2B5EF4-FFF2-40B4-BE49-F238E27FC236}">
                <a16:creationId xmlns:a16="http://schemas.microsoft.com/office/drawing/2014/main" id="{2EC44AD3-1C4C-AD10-77DB-6499D9CB0B02}"/>
              </a:ext>
            </a:extLst>
          </p:cNvPr>
          <p:cNvSpPr/>
          <p:nvPr/>
        </p:nvSpPr>
        <p:spPr>
          <a:xfrm>
            <a:off x="5693664" y="4253992"/>
            <a:ext cx="658368" cy="256032"/>
          </a:xfrm>
          <a:prstGeom prst="roundRect">
            <a:avLst>
              <a:gd name="adj" fmla="val 28571"/>
            </a:avLst>
          </a:prstGeom>
          <a:solidFill>
            <a:schemeClr val="bg1">
              <a:lumMod val="75000"/>
              <a:alpha val="16000"/>
            </a:schemeClr>
          </a:solidFill>
          <a:ln w="12700">
            <a:solidFill>
              <a:schemeClr val="bg1">
                <a:lumMod val="50000"/>
                <a:alpha val="80000"/>
              </a:schemeClr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8DD0A1CE-0E06-6CD3-BECD-FAFE73080ECD}"/>
              </a:ext>
            </a:extLst>
          </p:cNvPr>
          <p:cNvSpPr/>
          <p:nvPr/>
        </p:nvSpPr>
        <p:spPr>
          <a:xfrm>
            <a:off x="5693664" y="42677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8006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Text 26">
            <a:extLst>
              <a:ext uri="{FF2B5EF4-FFF2-40B4-BE49-F238E27FC236}">
                <a16:creationId xmlns:a16="http://schemas.microsoft.com/office/drawing/2014/main" id="{2BE9066C-E194-D922-127A-F3286BE8592D}"/>
              </a:ext>
            </a:extLst>
          </p:cNvPr>
          <p:cNvSpPr/>
          <p:nvPr/>
        </p:nvSpPr>
        <p:spPr>
          <a:xfrm>
            <a:off x="5693664" y="4621784"/>
            <a:ext cx="2124456" cy="281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ms-reportes</a:t>
            </a:r>
            <a:endParaRPr lang="en-US" sz="1600" dirty="0"/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2A35C64D-25CD-FBFF-5A42-696368B890A2}"/>
              </a:ext>
            </a:extLst>
          </p:cNvPr>
          <p:cNvSpPr/>
          <p:nvPr/>
        </p:nvSpPr>
        <p:spPr>
          <a:xfrm>
            <a:off x="5693664" y="4967224"/>
            <a:ext cx="2459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A7B0C2"/>
                </a:solidFill>
                <a:latin typeface="Aptos" pitchFamily="34" charset="0"/>
              </a:rPr>
              <a:t>Exportación</a:t>
            </a:r>
            <a:r>
              <a:rPr lang="en-US" sz="1400" dirty="0">
                <a:solidFill>
                  <a:srgbClr val="A7B0C2"/>
                </a:solidFill>
                <a:latin typeface="Aptos" pitchFamily="34" charset="0"/>
              </a:rPr>
              <a:t> e </a:t>
            </a:r>
            <a:r>
              <a:rPr lang="en-US" sz="1400" dirty="0" err="1">
                <a:solidFill>
                  <a:srgbClr val="A7B0C2"/>
                </a:solidFill>
                <a:latin typeface="Aptos" pitchFamily="34" charset="0"/>
              </a:rPr>
              <a:t>importacion</a:t>
            </a:r>
            <a:r>
              <a:rPr lang="en-US" sz="1400" dirty="0">
                <a:solidFill>
                  <a:srgbClr val="A7B0C2"/>
                </a:solidFill>
                <a:latin typeface="Aptos" pitchFamily="34" charset="0"/>
              </a:rPr>
              <a:t> de </a:t>
            </a:r>
            <a:r>
              <a:rPr lang="en-US" sz="1400" dirty="0" err="1">
                <a:solidFill>
                  <a:srgbClr val="A7B0C2"/>
                </a:solidFill>
                <a:latin typeface="Aptos" pitchFamily="34" charset="0"/>
              </a:rPr>
              <a:t>reportes</a:t>
            </a:r>
            <a:r>
              <a:rPr lang="en-US" sz="1400" dirty="0">
                <a:solidFill>
                  <a:srgbClr val="A7B0C2"/>
                </a:solidFill>
                <a:latin typeface="Aptos" pitchFamily="34" charset="0"/>
              </a:rPr>
              <a:t> </a:t>
            </a:r>
            <a:r>
              <a:rPr lang="en-US" sz="1400" dirty="0" err="1">
                <a:solidFill>
                  <a:srgbClr val="A7B0C2"/>
                </a:solidFill>
                <a:latin typeface="Aptos" pitchFamily="34" charset="0"/>
              </a:rPr>
              <a:t>en</a:t>
            </a:r>
            <a:r>
              <a:rPr lang="en-US" sz="1400" dirty="0">
                <a:solidFill>
                  <a:srgbClr val="A7B0C2"/>
                </a:solidFill>
                <a:latin typeface="Aptos" pitchFamily="34" charset="0"/>
              </a:rPr>
              <a:t> </a:t>
            </a:r>
            <a:r>
              <a:rPr lang="en-US" sz="1400" dirty="0" err="1">
                <a:solidFill>
                  <a:srgbClr val="A7B0C2"/>
                </a:solidFill>
                <a:latin typeface="Aptos" pitchFamily="34" charset="0"/>
              </a:rPr>
              <a:t>formatos</a:t>
            </a:r>
            <a:r>
              <a:rPr lang="en-US" sz="1400" dirty="0">
                <a:solidFill>
                  <a:srgbClr val="A7B0C2"/>
                </a:solidFill>
                <a:latin typeface="Aptos" pitchFamily="34" charset="0"/>
              </a:rPr>
              <a:t> xlsx, csv y pdf.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Propiedad de datos y clusters PostgreSQL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aísla completamente el almacenamiento: un servicio, una base de datos, un puerto y un cluster independiente.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2084832"/>
            <a:ext cx="7223760" cy="3401568"/>
          </a:xfrm>
          <a:prstGeom prst="roundRect">
            <a:avLst>
              <a:gd name="adj" fmla="val 2151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Servicio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2286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Puerto 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2286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DB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2286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Puerto DB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03720" y="2286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Cluster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560320"/>
            <a:ext cx="6858000" cy="0"/>
          </a:xfrm>
          <a:prstGeom prst="line">
            <a:avLst/>
          </a:prstGeom>
          <a:noFill/>
          <a:ln w="12700">
            <a:solidFill>
              <a:srgbClr val="2430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14400" y="2633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AF0FF"/>
                </a:solidFill>
              </a:rPr>
              <a:t>ms-auth-service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3749040" y="26334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D8E2F0"/>
                </a:solidFill>
              </a:rPr>
              <a:t>8001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754880" y="2633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8E2F0"/>
                </a:solidFill>
              </a:rPr>
              <a:t>auth_db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5943600" y="26334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8E2F0"/>
                </a:solidFill>
              </a:rPr>
              <a:t>5432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6903720" y="26334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8E2F0"/>
                </a:solidFill>
              </a:rPr>
              <a:t>auth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68680" y="3072384"/>
            <a:ext cx="6858000" cy="0"/>
          </a:xfrm>
          <a:prstGeom prst="line">
            <a:avLst/>
          </a:prstGeom>
          <a:noFill/>
          <a:ln w="12700">
            <a:solidFill>
              <a:srgbClr val="2430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914400" y="31455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AF0FF"/>
                </a:solidFill>
              </a:rPr>
              <a:t>ms-personas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3749040" y="31455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D8E2F0"/>
                </a:solidFill>
              </a:rPr>
              <a:t>8002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754880" y="31455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8E2F0"/>
                </a:solidFill>
              </a:rPr>
              <a:t>personas_db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5943600" y="31455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8E2F0"/>
                </a:solidFill>
              </a:rPr>
              <a:t>5433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6903720" y="31455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8E2F0"/>
                </a:solidFill>
              </a:rPr>
              <a:t>personas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868680" y="3584448"/>
            <a:ext cx="6858000" cy="0"/>
          </a:xfrm>
          <a:prstGeom prst="line">
            <a:avLst/>
          </a:prstGeom>
          <a:noFill/>
          <a:ln w="12700">
            <a:solidFill>
              <a:srgbClr val="2430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914400" y="3657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AF0FF"/>
                </a:solidFill>
              </a:rPr>
              <a:t>ms-automotores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3749040" y="3657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D8E2F0"/>
                </a:solidFill>
              </a:rPr>
              <a:t>8003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4754880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8E2F0"/>
                </a:solidFill>
              </a:rPr>
              <a:t>automotores_db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5943600" y="36576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8E2F0"/>
                </a:solidFill>
              </a:rPr>
              <a:t>5434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6903720" y="3657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8E2F0"/>
                </a:solidFill>
              </a:rPr>
              <a:t>automotores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868680" y="4096512"/>
            <a:ext cx="6858000" cy="0"/>
          </a:xfrm>
          <a:prstGeom prst="line">
            <a:avLst/>
          </a:prstGeom>
          <a:noFill/>
          <a:ln w="12700">
            <a:solidFill>
              <a:srgbClr val="2430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914400" y="41696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AF0FF"/>
                </a:solidFill>
              </a:rPr>
              <a:t>ms-infracciones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3749040" y="41696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D8E2F0"/>
                </a:solidFill>
              </a:rPr>
              <a:t>8004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4754880" y="41696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8E2F0"/>
                </a:solidFill>
              </a:rPr>
              <a:t>infracciones_db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5943600" y="41696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8E2F0"/>
                </a:solidFill>
              </a:rPr>
              <a:t>5435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6903720" y="41696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8E2F0"/>
                </a:solidFill>
              </a:rPr>
              <a:t>infracciones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868680" y="4608576"/>
            <a:ext cx="6858000" cy="0"/>
          </a:xfrm>
          <a:prstGeom prst="line">
            <a:avLst/>
          </a:prstGeom>
          <a:noFill/>
          <a:ln w="12700">
            <a:solidFill>
              <a:srgbClr val="2430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914400" y="4681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20" dirty="0" err="1">
                <a:solidFill>
                  <a:srgbClr val="EAF0FF"/>
                </a:solidFill>
              </a:rPr>
              <a:t>ms-comparendos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3749040" y="46817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D8E2F0"/>
                </a:solidFill>
              </a:rPr>
              <a:t>8005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4754880" y="46817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8E2F0"/>
                </a:solidFill>
              </a:rPr>
              <a:t>comparendos_db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5943600" y="46817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8E2F0"/>
                </a:solidFill>
              </a:rPr>
              <a:t>5436</a:t>
            </a:r>
            <a:endParaRPr lang="en-US" sz="1320" dirty="0"/>
          </a:p>
        </p:txBody>
      </p:sp>
      <p:sp>
        <p:nvSpPr>
          <p:cNvPr id="40" name="Text 38"/>
          <p:cNvSpPr/>
          <p:nvPr/>
        </p:nvSpPr>
        <p:spPr>
          <a:xfrm>
            <a:off x="6903720" y="46817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D8E2F0"/>
                </a:solidFill>
              </a:rPr>
              <a:t>comparendos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8229600" y="2121408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8229600" y="2121408"/>
            <a:ext cx="3246120" cy="5486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8394192" y="2249424"/>
            <a:ext cx="2916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INTEGRIDAD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394192" y="2432304"/>
            <a:ext cx="2916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de integración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394192" y="2816352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existen claves foráneas físicas entre bases de datos distintas; las validaciones se resuelven vía HTTP/REST.</a:t>
            </a:r>
            <a:endParaRPr lang="en-US" sz="1260" dirty="0"/>
          </a:p>
        </p:txBody>
      </p:sp>
      <p:sp>
        <p:nvSpPr>
          <p:cNvPr id="46" name="Shape 44"/>
          <p:cNvSpPr/>
          <p:nvPr/>
        </p:nvSpPr>
        <p:spPr>
          <a:xfrm>
            <a:off x="8229600" y="3675888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7" name="Shape 45"/>
          <p:cNvSpPr/>
          <p:nvPr/>
        </p:nvSpPr>
        <p:spPr>
          <a:xfrm>
            <a:off x="8229600" y="3675888"/>
            <a:ext cx="3246120" cy="54864"/>
          </a:xfrm>
          <a:prstGeom prst="rect">
            <a:avLst/>
          </a:prstGeom>
          <a:solidFill>
            <a:srgbClr val="5ECB7C"/>
          </a:solidFill>
          <a:ln w="12700">
            <a:solidFill>
              <a:srgbClr val="5ECB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8394192" y="3803904"/>
            <a:ext cx="2916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C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CONSISTENCIA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394192" y="3986784"/>
            <a:ext cx="2916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referencia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8394192" y="4370832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identificadores entre servicios son UUID. Los montos monetarios se gestionan como DECIMAL(12,2).</a:t>
            </a:r>
            <a:endParaRPr lang="en-US" sz="1260" dirty="0"/>
          </a:p>
        </p:txBody>
      </p:sp>
      <p:sp>
        <p:nvSpPr>
          <p:cNvPr id="51" name="Text 49"/>
          <p:cNvSpPr/>
          <p:nvPr/>
        </p:nvSpPr>
        <p:spPr>
          <a:xfrm>
            <a:off x="8321040" y="51389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E2F0"/>
                </a:solidFill>
              </a:rPr>
              <a:t>Beneficio: aislamiento, trazabilidad y facilidad de mantenimiento por dominio.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11475720" y="2743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53" name="Shape 33">
            <a:extLst>
              <a:ext uri="{FF2B5EF4-FFF2-40B4-BE49-F238E27FC236}">
                <a16:creationId xmlns:a16="http://schemas.microsoft.com/office/drawing/2014/main" id="{4DB11A83-45F9-B8FD-F275-59FE5790630F}"/>
              </a:ext>
            </a:extLst>
          </p:cNvPr>
          <p:cNvSpPr/>
          <p:nvPr/>
        </p:nvSpPr>
        <p:spPr>
          <a:xfrm>
            <a:off x="880872" y="5004816"/>
            <a:ext cx="6858000" cy="0"/>
          </a:xfrm>
          <a:prstGeom prst="line">
            <a:avLst/>
          </a:prstGeom>
          <a:noFill/>
          <a:ln w="12700">
            <a:solidFill>
              <a:srgbClr val="2430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Shape 33">
            <a:extLst>
              <a:ext uri="{FF2B5EF4-FFF2-40B4-BE49-F238E27FC236}">
                <a16:creationId xmlns:a16="http://schemas.microsoft.com/office/drawing/2014/main" id="{82B386E2-532B-E15A-5A43-A9ACB7870582}"/>
              </a:ext>
            </a:extLst>
          </p:cNvPr>
          <p:cNvSpPr/>
          <p:nvPr/>
        </p:nvSpPr>
        <p:spPr>
          <a:xfrm>
            <a:off x="886968" y="5004816"/>
            <a:ext cx="6858000" cy="0"/>
          </a:xfrm>
          <a:prstGeom prst="line">
            <a:avLst/>
          </a:prstGeom>
          <a:noFill/>
          <a:ln w="12700">
            <a:solidFill>
              <a:srgbClr val="2430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34">
            <a:extLst>
              <a:ext uri="{FF2B5EF4-FFF2-40B4-BE49-F238E27FC236}">
                <a16:creationId xmlns:a16="http://schemas.microsoft.com/office/drawing/2014/main" id="{CED9165F-C237-7682-00E8-E08FA8BF88A7}"/>
              </a:ext>
            </a:extLst>
          </p:cNvPr>
          <p:cNvSpPr/>
          <p:nvPr/>
        </p:nvSpPr>
        <p:spPr>
          <a:xfrm>
            <a:off x="932688" y="50779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20" dirty="0" err="1">
                <a:solidFill>
                  <a:srgbClr val="EAF0FF"/>
                </a:solidFill>
              </a:rPr>
              <a:t>ms-reportes</a:t>
            </a:r>
            <a:endParaRPr lang="en-US" sz="1320" dirty="0"/>
          </a:p>
        </p:txBody>
      </p:sp>
      <p:sp>
        <p:nvSpPr>
          <p:cNvPr id="57" name="Text 35">
            <a:extLst>
              <a:ext uri="{FF2B5EF4-FFF2-40B4-BE49-F238E27FC236}">
                <a16:creationId xmlns:a16="http://schemas.microsoft.com/office/drawing/2014/main" id="{FCF0F952-F454-F34D-7B10-3203ACCC19F3}"/>
              </a:ext>
            </a:extLst>
          </p:cNvPr>
          <p:cNvSpPr/>
          <p:nvPr/>
        </p:nvSpPr>
        <p:spPr>
          <a:xfrm>
            <a:off x="3767328" y="50779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D8E2F0"/>
                </a:solidFill>
              </a:rPr>
              <a:t>8006</a:t>
            </a:r>
            <a:endParaRPr lang="en-US" sz="1320" dirty="0"/>
          </a:p>
        </p:txBody>
      </p:sp>
      <p:sp>
        <p:nvSpPr>
          <p:cNvPr id="58" name="Text 36">
            <a:extLst>
              <a:ext uri="{FF2B5EF4-FFF2-40B4-BE49-F238E27FC236}">
                <a16:creationId xmlns:a16="http://schemas.microsoft.com/office/drawing/2014/main" id="{8D1E7D7E-B5E5-0299-EDB0-A7965633F7F2}"/>
              </a:ext>
            </a:extLst>
          </p:cNvPr>
          <p:cNvSpPr/>
          <p:nvPr/>
        </p:nvSpPr>
        <p:spPr>
          <a:xfrm>
            <a:off x="4773168" y="50779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 err="1">
                <a:solidFill>
                  <a:srgbClr val="D8E2F0"/>
                </a:solidFill>
              </a:rPr>
              <a:t>reportes_db</a:t>
            </a:r>
            <a:endParaRPr lang="en-US" sz="1320" dirty="0"/>
          </a:p>
        </p:txBody>
      </p:sp>
      <p:sp>
        <p:nvSpPr>
          <p:cNvPr id="60" name="Text 38">
            <a:extLst>
              <a:ext uri="{FF2B5EF4-FFF2-40B4-BE49-F238E27FC236}">
                <a16:creationId xmlns:a16="http://schemas.microsoft.com/office/drawing/2014/main" id="{B0506EC8-2F52-92B0-30D7-FDDE8DA3E291}"/>
              </a:ext>
            </a:extLst>
          </p:cNvPr>
          <p:cNvSpPr/>
          <p:nvPr/>
        </p:nvSpPr>
        <p:spPr>
          <a:xfrm>
            <a:off x="6922008" y="50779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 err="1">
                <a:solidFill>
                  <a:srgbClr val="D8E2F0"/>
                </a:solidFill>
              </a:rPr>
              <a:t>reportes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33">
            <a:extLst>
              <a:ext uri="{FF2B5EF4-FFF2-40B4-BE49-F238E27FC236}">
                <a16:creationId xmlns:a16="http://schemas.microsoft.com/office/drawing/2014/main" id="{2A3A42CA-12EC-CF8F-3A67-7A3F042D927A}"/>
              </a:ext>
            </a:extLst>
          </p:cNvPr>
          <p:cNvSpPr/>
          <p:nvPr/>
        </p:nvSpPr>
        <p:spPr>
          <a:xfrm>
            <a:off x="9739376" y="2274824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MX" noProof="0" dirty="0"/>
          </a:p>
        </p:txBody>
      </p:sp>
      <p:sp>
        <p:nvSpPr>
          <p:cNvPr id="2" name="Text 0"/>
          <p:cNvSpPr/>
          <p:nvPr/>
        </p:nvSpPr>
        <p:spPr>
          <a:xfrm>
            <a:off x="640080" y="4114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CRUDS</a:t>
            </a:r>
            <a:endParaRPr lang="es-MX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Creación y ciclo de vida del comparendo</a:t>
            </a:r>
            <a:endParaRPr lang="es-MX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50" noProof="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del sistema está en orquestar validaciones externas y mantener una máquina de estados controlada.</a:t>
            </a:r>
            <a:endParaRPr lang="es-MX" sz="1450" noProof="0" dirty="0"/>
          </a:p>
        </p:txBody>
      </p:sp>
      <p:sp>
        <p:nvSpPr>
          <p:cNvPr id="5" name="Shape 3"/>
          <p:cNvSpPr/>
          <p:nvPr/>
        </p:nvSpPr>
        <p:spPr>
          <a:xfrm>
            <a:off x="1901952" y="2697480"/>
            <a:ext cx="256032" cy="201168"/>
          </a:xfrm>
          <a:prstGeom prst="chevron">
            <a:avLst/>
          </a:prstGeom>
          <a:solidFill>
            <a:srgbClr val="2A3346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6" name="Shape 4"/>
          <p:cNvSpPr/>
          <p:nvPr/>
        </p:nvSpPr>
        <p:spPr>
          <a:xfrm>
            <a:off x="3410712" y="2697480"/>
            <a:ext cx="256032" cy="201168"/>
          </a:xfrm>
          <a:prstGeom prst="chevron">
            <a:avLst/>
          </a:prstGeom>
          <a:solidFill>
            <a:srgbClr val="2A3346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7" name="Shape 5"/>
          <p:cNvSpPr/>
          <p:nvPr/>
        </p:nvSpPr>
        <p:spPr>
          <a:xfrm>
            <a:off x="4919472" y="2697480"/>
            <a:ext cx="256032" cy="201168"/>
          </a:xfrm>
          <a:prstGeom prst="chevron">
            <a:avLst/>
          </a:prstGeom>
          <a:solidFill>
            <a:srgbClr val="2A3346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8" name="Shape 6"/>
          <p:cNvSpPr/>
          <p:nvPr/>
        </p:nvSpPr>
        <p:spPr>
          <a:xfrm>
            <a:off x="6428232" y="2697480"/>
            <a:ext cx="256032" cy="201168"/>
          </a:xfrm>
          <a:prstGeom prst="chevron">
            <a:avLst/>
          </a:prstGeom>
          <a:solidFill>
            <a:srgbClr val="2A3346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9" name="Shape 7"/>
          <p:cNvSpPr/>
          <p:nvPr/>
        </p:nvSpPr>
        <p:spPr>
          <a:xfrm>
            <a:off x="7936992" y="2697480"/>
            <a:ext cx="256032" cy="201168"/>
          </a:xfrm>
          <a:prstGeom prst="chevron">
            <a:avLst/>
          </a:prstGeom>
          <a:solidFill>
            <a:srgbClr val="2A3346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MX" noProof="0" dirty="0"/>
          </a:p>
        </p:txBody>
      </p:sp>
      <p:sp>
        <p:nvSpPr>
          <p:cNvPr id="11" name="Shape 9"/>
          <p:cNvSpPr/>
          <p:nvPr/>
        </p:nvSpPr>
        <p:spPr>
          <a:xfrm>
            <a:off x="1051560" y="2386584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/>
          <p:nvPr/>
        </p:nvSpPr>
        <p:spPr>
          <a:xfrm>
            <a:off x="1051560" y="24003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00" b="1" noProof="0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s-MX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804672" y="2670048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40" b="1" noProof="0" dirty="0" err="1">
                <a:solidFill>
                  <a:srgbClr val="EAF0FF"/>
                </a:solidFill>
              </a:rPr>
              <a:t>Login</a:t>
            </a:r>
            <a:endParaRPr lang="es-MX" sz="1240" noProof="0" dirty="0"/>
          </a:p>
        </p:txBody>
      </p:sp>
      <p:sp>
        <p:nvSpPr>
          <p:cNvPr id="14" name="Text 12"/>
          <p:cNvSpPr/>
          <p:nvPr/>
        </p:nvSpPr>
        <p:spPr>
          <a:xfrm>
            <a:off x="804672" y="2898648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noProof="0" dirty="0">
                <a:solidFill>
                  <a:srgbClr val="A7B0C2"/>
                </a:solidFill>
              </a:rPr>
              <a:t>Usuario autenticado</a:t>
            </a:r>
            <a:endParaRPr lang="es-MX" sz="950" noProof="0" dirty="0"/>
          </a:p>
        </p:txBody>
      </p:sp>
      <p:sp>
        <p:nvSpPr>
          <p:cNvPr id="15" name="Shape 13"/>
          <p:cNvSpPr/>
          <p:nvPr/>
        </p:nvSpPr>
        <p:spPr>
          <a:xfrm>
            <a:off x="2240280" y="224028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MX" noProof="0" dirty="0"/>
          </a:p>
        </p:txBody>
      </p:sp>
      <p:sp>
        <p:nvSpPr>
          <p:cNvPr id="16" name="Shape 14"/>
          <p:cNvSpPr/>
          <p:nvPr/>
        </p:nvSpPr>
        <p:spPr>
          <a:xfrm>
            <a:off x="2560320" y="2386584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7" name="Text 15"/>
          <p:cNvSpPr/>
          <p:nvPr/>
        </p:nvSpPr>
        <p:spPr>
          <a:xfrm>
            <a:off x="2560320" y="24003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00" b="1" noProof="0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s-MX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2313432" y="2670048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40" b="1" noProof="0" dirty="0">
                <a:solidFill>
                  <a:srgbClr val="EAF0FF"/>
                </a:solidFill>
              </a:rPr>
              <a:t>Persona</a:t>
            </a:r>
            <a:endParaRPr lang="es-MX" sz="1240" noProof="0" dirty="0"/>
          </a:p>
        </p:txBody>
      </p:sp>
      <p:sp>
        <p:nvSpPr>
          <p:cNvPr id="19" name="Text 17"/>
          <p:cNvSpPr/>
          <p:nvPr/>
        </p:nvSpPr>
        <p:spPr>
          <a:xfrm>
            <a:off x="2313432" y="2898648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noProof="0" dirty="0">
                <a:solidFill>
                  <a:srgbClr val="A7B0C2"/>
                </a:solidFill>
              </a:rPr>
              <a:t>Consulta / registro</a:t>
            </a:r>
            <a:endParaRPr lang="es-MX" sz="950" noProof="0" dirty="0"/>
          </a:p>
        </p:txBody>
      </p:sp>
      <p:sp>
        <p:nvSpPr>
          <p:cNvPr id="20" name="Shape 18"/>
          <p:cNvSpPr/>
          <p:nvPr/>
        </p:nvSpPr>
        <p:spPr>
          <a:xfrm>
            <a:off x="3749040" y="224028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MX" noProof="0" dirty="0"/>
          </a:p>
        </p:txBody>
      </p:sp>
      <p:sp>
        <p:nvSpPr>
          <p:cNvPr id="21" name="Shape 19"/>
          <p:cNvSpPr/>
          <p:nvPr/>
        </p:nvSpPr>
        <p:spPr>
          <a:xfrm>
            <a:off x="4069080" y="2386584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2" name="Text 20"/>
          <p:cNvSpPr/>
          <p:nvPr/>
        </p:nvSpPr>
        <p:spPr>
          <a:xfrm>
            <a:off x="4069080" y="24003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00" b="1" noProof="0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s-MX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3822192" y="2670048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40" b="1" noProof="0" dirty="0">
                <a:solidFill>
                  <a:srgbClr val="EAF0FF"/>
                </a:solidFill>
              </a:rPr>
              <a:t>Automotor</a:t>
            </a:r>
            <a:endParaRPr lang="es-MX" sz="1240" noProof="0" dirty="0"/>
          </a:p>
        </p:txBody>
      </p:sp>
      <p:sp>
        <p:nvSpPr>
          <p:cNvPr id="24" name="Text 22"/>
          <p:cNvSpPr/>
          <p:nvPr/>
        </p:nvSpPr>
        <p:spPr>
          <a:xfrm>
            <a:off x="3822192" y="2898648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noProof="0" dirty="0">
                <a:solidFill>
                  <a:srgbClr val="A7B0C2"/>
                </a:solidFill>
              </a:rPr>
              <a:t>Selección por placa</a:t>
            </a:r>
            <a:endParaRPr lang="es-MX" sz="950" noProof="0" dirty="0"/>
          </a:p>
        </p:txBody>
      </p:sp>
      <p:sp>
        <p:nvSpPr>
          <p:cNvPr id="25" name="Shape 23"/>
          <p:cNvSpPr/>
          <p:nvPr/>
        </p:nvSpPr>
        <p:spPr>
          <a:xfrm>
            <a:off x="5257800" y="224028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MX" noProof="0" dirty="0"/>
          </a:p>
        </p:txBody>
      </p:sp>
      <p:sp>
        <p:nvSpPr>
          <p:cNvPr id="26" name="Shape 24"/>
          <p:cNvSpPr/>
          <p:nvPr/>
        </p:nvSpPr>
        <p:spPr>
          <a:xfrm>
            <a:off x="5577840" y="2386584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7" name="Text 25"/>
          <p:cNvSpPr/>
          <p:nvPr/>
        </p:nvSpPr>
        <p:spPr>
          <a:xfrm>
            <a:off x="5577840" y="24003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00" b="1" noProof="0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s-MX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5330952" y="2670048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40" b="1" noProof="0" dirty="0">
                <a:solidFill>
                  <a:srgbClr val="EAF0FF"/>
                </a:solidFill>
              </a:rPr>
              <a:t>Infracción</a:t>
            </a:r>
            <a:endParaRPr lang="es-MX" sz="1240" noProof="0" dirty="0"/>
          </a:p>
        </p:txBody>
      </p:sp>
      <p:sp>
        <p:nvSpPr>
          <p:cNvPr id="29" name="Text 27"/>
          <p:cNvSpPr/>
          <p:nvPr/>
        </p:nvSpPr>
        <p:spPr>
          <a:xfrm>
            <a:off x="5330952" y="2898648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noProof="0" dirty="0">
                <a:solidFill>
                  <a:srgbClr val="A7B0C2"/>
                </a:solidFill>
              </a:rPr>
              <a:t>Código + valor</a:t>
            </a:r>
            <a:endParaRPr lang="es-MX" sz="950" noProof="0" dirty="0"/>
          </a:p>
        </p:txBody>
      </p:sp>
      <p:sp>
        <p:nvSpPr>
          <p:cNvPr id="30" name="Shape 28"/>
          <p:cNvSpPr/>
          <p:nvPr/>
        </p:nvSpPr>
        <p:spPr>
          <a:xfrm>
            <a:off x="6766560" y="224028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MX" noProof="0" dirty="0"/>
          </a:p>
        </p:txBody>
      </p:sp>
      <p:sp>
        <p:nvSpPr>
          <p:cNvPr id="31" name="Shape 29"/>
          <p:cNvSpPr/>
          <p:nvPr/>
        </p:nvSpPr>
        <p:spPr>
          <a:xfrm>
            <a:off x="7086600" y="2386584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E8504A">
              <a:alpha val="16000"/>
            </a:srgbClr>
          </a:solidFill>
          <a:ln w="12700">
            <a:solidFill>
              <a:srgbClr val="E85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2" name="Text 30"/>
          <p:cNvSpPr/>
          <p:nvPr/>
        </p:nvSpPr>
        <p:spPr>
          <a:xfrm>
            <a:off x="7086600" y="240030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00" b="1" noProof="0" dirty="0">
                <a:solidFill>
                  <a:srgbClr val="E85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s-MX" sz="1000" noProof="0" dirty="0"/>
          </a:p>
        </p:txBody>
      </p:sp>
      <p:sp>
        <p:nvSpPr>
          <p:cNvPr id="33" name="Text 31"/>
          <p:cNvSpPr/>
          <p:nvPr/>
        </p:nvSpPr>
        <p:spPr>
          <a:xfrm>
            <a:off x="6839712" y="2670048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40" b="1" noProof="0" dirty="0">
                <a:solidFill>
                  <a:srgbClr val="EAF0FF"/>
                </a:solidFill>
              </a:rPr>
              <a:t>Comparendo</a:t>
            </a:r>
            <a:endParaRPr lang="es-MX" sz="1240" noProof="0" dirty="0"/>
          </a:p>
        </p:txBody>
      </p:sp>
      <p:sp>
        <p:nvSpPr>
          <p:cNvPr id="34" name="Text 32"/>
          <p:cNvSpPr/>
          <p:nvPr/>
        </p:nvSpPr>
        <p:spPr>
          <a:xfrm>
            <a:off x="6839712" y="2898648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noProof="0" dirty="0">
                <a:solidFill>
                  <a:srgbClr val="A7B0C2"/>
                </a:solidFill>
              </a:rPr>
              <a:t>POST /api/comparendos</a:t>
            </a:r>
            <a:endParaRPr lang="es-MX" sz="950" noProof="0" dirty="0"/>
          </a:p>
        </p:txBody>
      </p:sp>
      <p:sp>
        <p:nvSpPr>
          <p:cNvPr id="35" name="Shape 33"/>
          <p:cNvSpPr/>
          <p:nvPr/>
        </p:nvSpPr>
        <p:spPr>
          <a:xfrm>
            <a:off x="8275320" y="224028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MX" noProof="0" dirty="0"/>
          </a:p>
        </p:txBody>
      </p:sp>
      <p:sp>
        <p:nvSpPr>
          <p:cNvPr id="36" name="Shape 34"/>
          <p:cNvSpPr/>
          <p:nvPr/>
        </p:nvSpPr>
        <p:spPr>
          <a:xfrm>
            <a:off x="8656320" y="2335784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5ECB7C">
              <a:alpha val="16000"/>
            </a:srgbClr>
          </a:solidFill>
          <a:ln w="12700">
            <a:solidFill>
              <a:srgbClr val="5ECB7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7" name="Text 35"/>
          <p:cNvSpPr/>
          <p:nvPr/>
        </p:nvSpPr>
        <p:spPr>
          <a:xfrm>
            <a:off x="8656320" y="2390140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00" b="1" noProof="0" dirty="0">
                <a:solidFill>
                  <a:srgbClr val="5EC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s-MX" sz="1000" noProof="0" dirty="0"/>
          </a:p>
        </p:txBody>
      </p:sp>
      <p:sp>
        <p:nvSpPr>
          <p:cNvPr id="38" name="Text 36"/>
          <p:cNvSpPr/>
          <p:nvPr/>
        </p:nvSpPr>
        <p:spPr>
          <a:xfrm>
            <a:off x="8348472" y="2670048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40" b="1" noProof="0" dirty="0">
                <a:solidFill>
                  <a:srgbClr val="EAF0FF"/>
                </a:solidFill>
              </a:rPr>
              <a:t>Pago / anulación</a:t>
            </a:r>
            <a:endParaRPr lang="es-MX" sz="1240" noProof="0" dirty="0"/>
          </a:p>
        </p:txBody>
      </p:sp>
      <p:sp>
        <p:nvSpPr>
          <p:cNvPr id="39" name="Text 37"/>
          <p:cNvSpPr/>
          <p:nvPr/>
        </p:nvSpPr>
        <p:spPr>
          <a:xfrm>
            <a:off x="8348472" y="2898648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noProof="0" dirty="0">
                <a:solidFill>
                  <a:srgbClr val="A7B0C2"/>
                </a:solidFill>
              </a:rPr>
              <a:t>PATCH según caso</a:t>
            </a:r>
            <a:endParaRPr lang="es-MX" sz="950" noProof="0" dirty="0"/>
          </a:p>
        </p:txBody>
      </p:sp>
      <p:sp>
        <p:nvSpPr>
          <p:cNvPr id="40" name="Shape 38"/>
          <p:cNvSpPr/>
          <p:nvPr/>
        </p:nvSpPr>
        <p:spPr>
          <a:xfrm>
            <a:off x="914400" y="3931920"/>
            <a:ext cx="10332720" cy="1389888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41" name="Text 39"/>
          <p:cNvSpPr/>
          <p:nvPr/>
        </p:nvSpPr>
        <p:spPr>
          <a:xfrm>
            <a:off x="109728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b="1" noProof="0" dirty="0">
                <a:solidFill>
                  <a:srgbClr val="F5A623"/>
                </a:solidFill>
              </a:rPr>
              <a:t>Máquina de estados base</a:t>
            </a:r>
            <a:endParaRPr lang="es-MX" sz="1200" noProof="0" dirty="0"/>
          </a:p>
        </p:txBody>
      </p:sp>
      <p:sp>
        <p:nvSpPr>
          <p:cNvPr id="42" name="Shape 40"/>
          <p:cNvSpPr/>
          <p:nvPr/>
        </p:nvSpPr>
        <p:spPr>
          <a:xfrm>
            <a:off x="1920240" y="4498848"/>
            <a:ext cx="1508760" cy="420624"/>
          </a:xfrm>
          <a:prstGeom prst="roundRect">
            <a:avLst>
              <a:gd name="adj" fmla="val 17391"/>
            </a:avLst>
          </a:prstGeom>
          <a:solidFill>
            <a:srgbClr val="111827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43" name="Text 41"/>
          <p:cNvSpPr/>
          <p:nvPr/>
        </p:nvSpPr>
        <p:spPr>
          <a:xfrm>
            <a:off x="1920240" y="461314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300" b="1" noProof="0" dirty="0">
                <a:solidFill>
                  <a:srgbClr val="F5A623"/>
                </a:solidFill>
              </a:rPr>
              <a:t>PENDIENTE</a:t>
            </a:r>
            <a:endParaRPr lang="es-MX" sz="1300" noProof="0" dirty="0"/>
          </a:p>
        </p:txBody>
      </p:sp>
      <p:sp>
        <p:nvSpPr>
          <p:cNvPr id="44" name="Shape 42"/>
          <p:cNvSpPr/>
          <p:nvPr/>
        </p:nvSpPr>
        <p:spPr>
          <a:xfrm>
            <a:off x="4663440" y="4498848"/>
            <a:ext cx="1508760" cy="420624"/>
          </a:xfrm>
          <a:prstGeom prst="roundRect">
            <a:avLst>
              <a:gd name="adj" fmla="val 17391"/>
            </a:avLst>
          </a:prstGeom>
          <a:solidFill>
            <a:srgbClr val="111827"/>
          </a:solidFill>
          <a:ln w="12700">
            <a:solidFill>
              <a:srgbClr val="5ECB7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45" name="Text 43"/>
          <p:cNvSpPr/>
          <p:nvPr/>
        </p:nvSpPr>
        <p:spPr>
          <a:xfrm>
            <a:off x="4663440" y="461314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300" b="1" noProof="0" dirty="0">
                <a:solidFill>
                  <a:srgbClr val="5ECB7C"/>
                </a:solidFill>
              </a:rPr>
              <a:t>PAGADO</a:t>
            </a:r>
            <a:endParaRPr lang="es-MX" sz="1300" noProof="0" dirty="0"/>
          </a:p>
        </p:txBody>
      </p:sp>
      <p:sp>
        <p:nvSpPr>
          <p:cNvPr id="46" name="Shape 44"/>
          <p:cNvSpPr/>
          <p:nvPr/>
        </p:nvSpPr>
        <p:spPr>
          <a:xfrm>
            <a:off x="7406640" y="4498848"/>
            <a:ext cx="1508760" cy="420624"/>
          </a:xfrm>
          <a:prstGeom prst="roundRect">
            <a:avLst>
              <a:gd name="adj" fmla="val 17391"/>
            </a:avLst>
          </a:prstGeom>
          <a:solidFill>
            <a:srgbClr val="111827"/>
          </a:solidFill>
          <a:ln w="12700">
            <a:solidFill>
              <a:srgbClr val="E8504A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47" name="Text 45"/>
          <p:cNvSpPr/>
          <p:nvPr/>
        </p:nvSpPr>
        <p:spPr>
          <a:xfrm>
            <a:off x="7406640" y="461314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300" b="1" noProof="0" dirty="0">
                <a:solidFill>
                  <a:srgbClr val="E8504A"/>
                </a:solidFill>
              </a:rPr>
              <a:t>ANULADO</a:t>
            </a:r>
            <a:endParaRPr lang="es-MX" sz="1300" noProof="0" dirty="0"/>
          </a:p>
        </p:txBody>
      </p:sp>
      <p:sp>
        <p:nvSpPr>
          <p:cNvPr id="48" name="Shape 46"/>
          <p:cNvSpPr/>
          <p:nvPr/>
        </p:nvSpPr>
        <p:spPr>
          <a:xfrm>
            <a:off x="3438144" y="4709160"/>
            <a:ext cx="822960" cy="0"/>
          </a:xfrm>
          <a:prstGeom prst="line">
            <a:avLst/>
          </a:prstGeom>
          <a:noFill/>
          <a:ln w="12700">
            <a:solidFill>
              <a:srgbClr val="5ECB7C"/>
            </a:solidFill>
            <a:prstDash val="solid"/>
            <a:tailEnd type="triangle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49" name="Shape 47"/>
          <p:cNvSpPr/>
          <p:nvPr/>
        </p:nvSpPr>
        <p:spPr>
          <a:xfrm>
            <a:off x="6163056" y="4709160"/>
            <a:ext cx="822960" cy="0"/>
          </a:xfrm>
          <a:prstGeom prst="line">
            <a:avLst/>
          </a:prstGeom>
          <a:noFill/>
          <a:ln w="12700">
            <a:solidFill>
              <a:srgbClr val="E8504A"/>
            </a:solidFill>
            <a:prstDash val="solid"/>
            <a:tailEnd type="triangle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0" name="Text 48"/>
          <p:cNvSpPr/>
          <p:nvPr/>
        </p:nvSpPr>
        <p:spPr>
          <a:xfrm>
            <a:off x="3383280" y="502920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00" noProof="0" dirty="0">
                <a:solidFill>
                  <a:srgbClr val="A7B0C2"/>
                </a:solidFill>
              </a:rPr>
              <a:t>Pago válido</a:t>
            </a:r>
            <a:endParaRPr lang="es-MX" sz="900" noProof="0" dirty="0"/>
          </a:p>
        </p:txBody>
      </p:sp>
      <p:sp>
        <p:nvSpPr>
          <p:cNvPr id="51" name="Text 49"/>
          <p:cNvSpPr/>
          <p:nvPr/>
        </p:nvSpPr>
        <p:spPr>
          <a:xfrm>
            <a:off x="5897880" y="502920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880" noProof="0" dirty="0">
                <a:solidFill>
                  <a:srgbClr val="A7B0C2"/>
                </a:solidFill>
              </a:rPr>
              <a:t>Decisión administrativa</a:t>
            </a:r>
            <a:endParaRPr lang="es-MX" sz="880" noProof="0" dirty="0"/>
          </a:p>
        </p:txBody>
      </p:sp>
      <p:sp>
        <p:nvSpPr>
          <p:cNvPr id="52" name="Text 50"/>
          <p:cNvSpPr/>
          <p:nvPr/>
        </p:nvSpPr>
        <p:spPr>
          <a:xfrm>
            <a:off x="8979408" y="45262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60" noProof="0" dirty="0">
                <a:solidFill>
                  <a:srgbClr val="D8E2F0"/>
                </a:solidFill>
              </a:rPr>
              <a:t>Reglas: número único y valor consistente con infracciones.</a:t>
            </a:r>
            <a:endParaRPr lang="es-MX" sz="1060" noProof="0" dirty="0"/>
          </a:p>
        </p:txBody>
      </p:sp>
      <p:sp>
        <p:nvSpPr>
          <p:cNvPr id="53" name="Text 51"/>
          <p:cNvSpPr/>
          <p:nvPr/>
        </p:nvSpPr>
        <p:spPr>
          <a:xfrm>
            <a:off x="11475720" y="2743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1000" noProof="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s-MX" sz="1000" noProof="0" dirty="0"/>
          </a:p>
        </p:txBody>
      </p:sp>
      <p:sp>
        <p:nvSpPr>
          <p:cNvPr id="54" name="Shape 7">
            <a:extLst>
              <a:ext uri="{FF2B5EF4-FFF2-40B4-BE49-F238E27FC236}">
                <a16:creationId xmlns:a16="http://schemas.microsoft.com/office/drawing/2014/main" id="{9A9FBC1A-8882-FDA0-BB51-C8E53F7ABC5F}"/>
              </a:ext>
            </a:extLst>
          </p:cNvPr>
          <p:cNvSpPr/>
          <p:nvPr/>
        </p:nvSpPr>
        <p:spPr>
          <a:xfrm>
            <a:off x="9450832" y="2722880"/>
            <a:ext cx="256032" cy="201168"/>
          </a:xfrm>
          <a:prstGeom prst="chevron">
            <a:avLst/>
          </a:prstGeom>
          <a:solidFill>
            <a:srgbClr val="2A3346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5" name="Shape 34">
            <a:extLst>
              <a:ext uri="{FF2B5EF4-FFF2-40B4-BE49-F238E27FC236}">
                <a16:creationId xmlns:a16="http://schemas.microsoft.com/office/drawing/2014/main" id="{F422A5E1-1D51-5235-D68E-1A114F409E7C}"/>
              </a:ext>
            </a:extLst>
          </p:cNvPr>
          <p:cNvSpPr/>
          <p:nvPr/>
        </p:nvSpPr>
        <p:spPr>
          <a:xfrm>
            <a:off x="10139680" y="2340864"/>
            <a:ext cx="310896" cy="256032"/>
          </a:xfrm>
          <a:prstGeom prst="roundRect">
            <a:avLst>
              <a:gd name="adj" fmla="val 28571"/>
            </a:avLst>
          </a:prstGeom>
          <a:solidFill>
            <a:schemeClr val="bg1">
              <a:lumMod val="75000"/>
              <a:alpha val="16000"/>
            </a:schemeClr>
          </a:solidFill>
          <a:ln w="12700">
            <a:solidFill>
              <a:schemeClr val="bg1">
                <a:lumMod val="50000"/>
                <a:alpha val="80000"/>
              </a:schemeClr>
            </a:solidFill>
            <a:prstDash val="solid"/>
          </a:ln>
        </p:spPr>
        <p:txBody>
          <a:bodyPr/>
          <a:lstStyle/>
          <a:p>
            <a:endParaRPr lang="es-MX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Text 35">
            <a:extLst>
              <a:ext uri="{FF2B5EF4-FFF2-40B4-BE49-F238E27FC236}">
                <a16:creationId xmlns:a16="http://schemas.microsoft.com/office/drawing/2014/main" id="{0035010C-5D0D-90FC-CFD6-2C01951F4BEA}"/>
              </a:ext>
            </a:extLst>
          </p:cNvPr>
          <p:cNvSpPr/>
          <p:nvPr/>
        </p:nvSpPr>
        <p:spPr>
          <a:xfrm>
            <a:off x="10132568" y="2371344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000" b="1" noProof="0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s-MX" sz="10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Text 36">
            <a:extLst>
              <a:ext uri="{FF2B5EF4-FFF2-40B4-BE49-F238E27FC236}">
                <a16:creationId xmlns:a16="http://schemas.microsoft.com/office/drawing/2014/main" id="{1C75C443-DB6D-E48A-B2DA-CD6A8368F6F7}"/>
              </a:ext>
            </a:extLst>
          </p:cNvPr>
          <p:cNvSpPr/>
          <p:nvPr/>
        </p:nvSpPr>
        <p:spPr>
          <a:xfrm>
            <a:off x="9862312" y="2695448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40" b="1" noProof="0" dirty="0">
                <a:solidFill>
                  <a:srgbClr val="EAF0FF"/>
                </a:solidFill>
              </a:rPr>
              <a:t>Reportes</a:t>
            </a:r>
            <a:endParaRPr lang="es-MX" sz="1240" noProof="0" dirty="0"/>
          </a:p>
        </p:txBody>
      </p:sp>
      <p:sp>
        <p:nvSpPr>
          <p:cNvPr id="58" name="Text 37">
            <a:extLst>
              <a:ext uri="{FF2B5EF4-FFF2-40B4-BE49-F238E27FC236}">
                <a16:creationId xmlns:a16="http://schemas.microsoft.com/office/drawing/2014/main" id="{820185AA-1D8A-B49C-88DD-48C3DF0AE732}"/>
              </a:ext>
            </a:extLst>
          </p:cNvPr>
          <p:cNvSpPr/>
          <p:nvPr/>
        </p:nvSpPr>
        <p:spPr>
          <a:xfrm>
            <a:off x="9862312" y="2924048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950" noProof="0" dirty="0">
                <a:solidFill>
                  <a:srgbClr val="A7B0C2"/>
                </a:solidFill>
              </a:rPr>
              <a:t>Exportación de reportes</a:t>
            </a:r>
            <a:endParaRPr lang="es-MX" sz="9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+ SEGURIDAD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19, rutas protegidas y flujo JWT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SPA administra el acceso, consume los microservicios y delega la validación central al servicio de autenticación.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2048256"/>
            <a:ext cx="3749040" cy="3383280"/>
          </a:xfrm>
          <a:prstGeom prst="roundRect">
            <a:avLst>
              <a:gd name="adj" fmla="val 2162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048256"/>
            <a:ext cx="37490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96112" y="2176272"/>
            <a:ext cx="3419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2359152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administrativo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2743200"/>
            <a:ext cx="34198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19 + TypeScript + Vite + TailwindCSS + React Query + React Hook Form.</a:t>
            </a:r>
            <a:endParaRPr lang="en-US" sz="1260" dirty="0"/>
          </a:p>
          <a:p>
            <a:pPr marL="0" indent="0">
              <a:buNone/>
            </a:pP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Módulos principales: Login, Dashboard, Personas, Automotores, Infracciones, Comparendos y Usuarios.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4800600" y="2048256"/>
            <a:ext cx="6675120" cy="3383280"/>
          </a:xfrm>
          <a:prstGeom prst="roundRect">
            <a:avLst>
              <a:gd name="adj" fmla="val 2162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029200" y="2212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Flujo JWT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38928" y="265176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376672" y="257860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EAF0FF"/>
                </a:solidFill>
              </a:rPr>
              <a:t>Login y emisión de tokens</a:t>
            </a:r>
            <a:endParaRPr lang="en-US" sz="1360" dirty="0"/>
          </a:p>
        </p:txBody>
      </p:sp>
      <p:sp>
        <p:nvSpPr>
          <p:cNvPr id="14" name="Shape 12"/>
          <p:cNvSpPr/>
          <p:nvPr/>
        </p:nvSpPr>
        <p:spPr>
          <a:xfrm>
            <a:off x="5138928" y="3163824"/>
            <a:ext cx="109728" cy="10972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376672" y="309067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EAF0FF"/>
                </a:solidFill>
              </a:rPr>
              <a:t>Access token en memoria del cliente</a:t>
            </a:r>
            <a:endParaRPr lang="en-US" sz="1360" dirty="0"/>
          </a:p>
        </p:txBody>
      </p:sp>
      <p:sp>
        <p:nvSpPr>
          <p:cNvPr id="16" name="Shape 14"/>
          <p:cNvSpPr/>
          <p:nvPr/>
        </p:nvSpPr>
        <p:spPr>
          <a:xfrm>
            <a:off x="5138928" y="3675888"/>
            <a:ext cx="109728" cy="109728"/>
          </a:xfrm>
          <a:prstGeom prst="ellipse">
            <a:avLst/>
          </a:prstGeom>
          <a:solidFill>
            <a:srgbClr val="5ECB7C"/>
          </a:solidFill>
          <a:ln w="12700">
            <a:solidFill>
              <a:srgbClr val="5ECB7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376672" y="360273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EAF0FF"/>
                </a:solidFill>
              </a:rPr>
              <a:t>Refresh token para renovar sesión</a:t>
            </a:r>
            <a:endParaRPr lang="en-US" sz="1360" dirty="0"/>
          </a:p>
        </p:txBody>
      </p:sp>
      <p:sp>
        <p:nvSpPr>
          <p:cNvPr id="18" name="Shape 16"/>
          <p:cNvSpPr/>
          <p:nvPr/>
        </p:nvSpPr>
        <p:spPr>
          <a:xfrm>
            <a:off x="5138928" y="4187952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376672" y="411480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EAF0FF"/>
                </a:solidFill>
              </a:rPr>
              <a:t>Gateway valida JWT antes de cada API</a:t>
            </a:r>
            <a:endParaRPr lang="en-US" sz="1360" dirty="0"/>
          </a:p>
        </p:txBody>
      </p:sp>
      <p:sp>
        <p:nvSpPr>
          <p:cNvPr id="20" name="Shape 18"/>
          <p:cNvSpPr/>
          <p:nvPr/>
        </p:nvSpPr>
        <p:spPr>
          <a:xfrm>
            <a:off x="5138928" y="4700016"/>
            <a:ext cx="109728" cy="109728"/>
          </a:xfrm>
          <a:prstGeom prst="ellipse">
            <a:avLst/>
          </a:prstGeom>
          <a:solidFill>
            <a:srgbClr val="E8504A"/>
          </a:solidFill>
          <a:ln w="12700">
            <a:solidFill>
              <a:srgbClr val="E850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376672" y="462686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EAF0FF"/>
                </a:solidFill>
              </a:rPr>
              <a:t>Si el refresh falla, vuelve al login</a:t>
            </a:r>
            <a:endParaRPr lang="en-US" sz="1360" dirty="0"/>
          </a:p>
        </p:txBody>
      </p:sp>
      <p:sp>
        <p:nvSpPr>
          <p:cNvPr id="22" name="Shape 20"/>
          <p:cNvSpPr/>
          <p:nvPr/>
        </p:nvSpPr>
        <p:spPr>
          <a:xfrm>
            <a:off x="9966960" y="2542032"/>
            <a:ext cx="1060704" cy="2240280"/>
          </a:xfrm>
          <a:prstGeom prst="roundRect">
            <a:avLst>
              <a:gd name="adj" fmla="val 6897"/>
            </a:avLst>
          </a:prstGeom>
          <a:solidFill>
            <a:srgbClr val="0F172A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10058400" y="2743200"/>
            <a:ext cx="8595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E2F0"/>
                </a:solidFill>
              </a:rPr>
              <a:t>Roles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8E2F0"/>
                </a:solidFill>
              </a:rPr>
              <a:t>admin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8E2F0"/>
                </a:solidFill>
              </a:rPr>
              <a:t>agente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8E2F0"/>
                </a:solidFill>
              </a:rPr>
              <a:t>supervisor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8E2F0"/>
                </a:solidFill>
              </a:rPr>
              <a:t>ciudadano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75720" y="2743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DESPLIEGUE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formas de ejecutar el proyecto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completo puede correr en local con Docker Compose o como entorno provisionado con Vagrant + Ansible.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212080" cy="3337560"/>
          </a:xfrm>
          <a:prstGeom prst="roundRect">
            <a:avLst>
              <a:gd name="adj" fmla="val 2192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2120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41832" y="2048256"/>
            <a:ext cx="4882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41832" y="2231136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Modo 1 · Docker local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" y="2615184"/>
            <a:ext cx="48828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rápido para desarrollo y demostración.</a:t>
            </a:r>
            <a:endParaRPr lang="en-US" sz="1260" dirty="0"/>
          </a:p>
          <a:p>
            <a:pPr marL="0" indent="0">
              <a:buNone/>
            </a:pP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docker compose up --build -d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Frontend en http://localhost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ecosistema simula la red de producción.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Útil para pruebas funcionales y desarrollo integrado.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212080" cy="3337560"/>
          </a:xfrm>
          <a:prstGeom prst="roundRect">
            <a:avLst>
              <a:gd name="adj" fmla="val 2192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212080" cy="5486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382512" y="2048256"/>
            <a:ext cx="4882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82512" y="2231136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Modo 2 · Vagrant + Ansible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82512" y="2615184"/>
            <a:ext cx="48828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 académico con 3 VMs.</a:t>
            </a:r>
            <a:endParaRPr lang="en-US" sz="1260" dirty="0"/>
          </a:p>
          <a:p>
            <a:pPr marL="0" indent="0">
              <a:buNone/>
            </a:pP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vagrant up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DNS local + API + Web/Gateway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PM2 para procesos Node.js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Nginx para servir la SPA y enrutar APIs con JWT.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1005840" y="5440680"/>
            <a:ext cx="10149840" cy="411480"/>
          </a:xfrm>
          <a:prstGeom prst="roundRect">
            <a:avLst>
              <a:gd name="adj" fmla="val 17778"/>
            </a:avLst>
          </a:prstGeom>
          <a:solidFill>
            <a:srgbClr val="0F172A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143000" y="55595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D8E2F0"/>
                </a:solidFill>
              </a:rPr>
              <a:t>URLs demo: simcomp.co · api.simcomp.co:8001/api/docs · api.simcomp.co:8002/api/health · … · api.simcomp.co:8006/api/health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11475720" y="2743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Secuencia sugerida para la sustentación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exposición sólida muestra el recorrido completo desde autenticación hasta el pago del comparendo.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87552" y="2121408"/>
            <a:ext cx="420624" cy="256032"/>
          </a:xfrm>
          <a:prstGeom prst="roundRect">
            <a:avLst>
              <a:gd name="adj" fmla="val 28571"/>
            </a:avLst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87552" y="213512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72768" y="21214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0FF"/>
                </a:solidFill>
              </a:rPr>
              <a:t>Ingresar al login y validar roles del sistema.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987552" y="3264408"/>
            <a:ext cx="420624" cy="256032"/>
          </a:xfrm>
          <a:prstGeom prst="roundRect">
            <a:avLst>
              <a:gd name="adj" fmla="val 28571"/>
            </a:avLst>
          </a:prstGeom>
          <a:solidFill>
            <a:srgbClr val="4A9EFF">
              <a:alpha val="16000"/>
            </a:srgbClr>
          </a:solidFill>
          <a:ln w="12700">
            <a:solidFill>
              <a:srgbClr val="4A9E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87552" y="327812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72768" y="32644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0FF"/>
                </a:solidFill>
              </a:rPr>
              <a:t>Mostrar dashboard y navegación por módulos.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22960" y="420624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987552" y="4407408"/>
            <a:ext cx="420624" cy="256032"/>
          </a:xfrm>
          <a:prstGeom prst="roundRect">
            <a:avLst>
              <a:gd name="adj" fmla="val 28571"/>
            </a:avLst>
          </a:prstGeom>
          <a:solidFill>
            <a:srgbClr val="5ECB7C">
              <a:alpha val="16000"/>
            </a:srgbClr>
          </a:solidFill>
          <a:ln w="12700">
            <a:solidFill>
              <a:srgbClr val="5ECB7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987552" y="442112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C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72768" y="44074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0FF"/>
                </a:solidFill>
              </a:rPr>
              <a:t>Consultar o registrar persona y su licencia.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172200" y="192024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336792" y="2121408"/>
            <a:ext cx="420624" cy="256032"/>
          </a:xfrm>
          <a:prstGeom prst="roundRect">
            <a:avLst>
              <a:gd name="adj" fmla="val 28571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336792" y="213512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22008" y="21214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0FF"/>
                </a:solidFill>
              </a:rPr>
              <a:t>Consultar automotor y verificar placa / propietario.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172200" y="306324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336792" y="3264408"/>
            <a:ext cx="420624" cy="256032"/>
          </a:xfrm>
          <a:prstGeom prst="roundRect">
            <a:avLst>
              <a:gd name="adj" fmla="val 28571"/>
            </a:avLst>
          </a:prstGeom>
          <a:solidFill>
            <a:srgbClr val="E8504A">
              <a:alpha val="16000"/>
            </a:srgbClr>
          </a:solidFill>
          <a:ln w="12700">
            <a:solidFill>
              <a:srgbClr val="E850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336792" y="327812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5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22008" y="32644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0FF"/>
                </a:solidFill>
              </a:rPr>
              <a:t>Seleccionar infracción y crear comparendo.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172200" y="420624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6336792" y="4407408"/>
            <a:ext cx="420624" cy="256032"/>
          </a:xfrm>
          <a:prstGeom prst="roundRect">
            <a:avLst>
              <a:gd name="adj" fmla="val 28571"/>
            </a:avLst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336792" y="442112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22008" y="44074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0FF"/>
                </a:solidFill>
              </a:rPr>
              <a:t>Consultar detalle, pagar o anular y revisar estado.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6192522" y="5217160"/>
            <a:ext cx="5100318" cy="817880"/>
          </a:xfrm>
          <a:prstGeom prst="roundRect">
            <a:avLst>
              <a:gd name="adj" fmla="val 18605"/>
            </a:avLst>
          </a:prstGeom>
          <a:solidFill>
            <a:srgbClr val="0F172A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6437376" y="5344160"/>
            <a:ext cx="4721352" cy="73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0" b="1" dirty="0">
                <a:solidFill>
                  <a:srgbClr val="F5A623"/>
                </a:solidFill>
              </a:rPr>
              <a:t>Tip: si preguntas por puertos del backend, la respuesta correcta es 8001, 8002, 8003, 8004, 8005 y 8006.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1475720" y="2743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6CE3FC1C-34FC-5F08-405D-3F5812FA0299}"/>
              </a:ext>
            </a:extLst>
          </p:cNvPr>
          <p:cNvSpPr/>
          <p:nvPr/>
        </p:nvSpPr>
        <p:spPr>
          <a:xfrm>
            <a:off x="822960" y="524865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53450B4D-A15E-DDB8-BDC0-22252C307C44}"/>
              </a:ext>
            </a:extLst>
          </p:cNvPr>
          <p:cNvSpPr/>
          <p:nvPr/>
        </p:nvSpPr>
        <p:spPr>
          <a:xfrm>
            <a:off x="1102362" y="540766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1791AE8B-8235-75E9-19C4-90689486B334}"/>
              </a:ext>
            </a:extLst>
          </p:cNvPr>
          <p:cNvSpPr/>
          <p:nvPr/>
        </p:nvSpPr>
        <p:spPr>
          <a:xfrm>
            <a:off x="1657098" y="547217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AF0FF"/>
                </a:solidFill>
              </a:rPr>
              <a:t>Consultar detalle, pagar o anular y revisar estado.</a:t>
            </a:r>
            <a:endParaRPr lang="en-US" sz="1550" dirty="0"/>
          </a:p>
        </p:txBody>
      </p:sp>
      <p:sp>
        <p:nvSpPr>
          <p:cNvPr id="35" name="Shape 24">
            <a:extLst>
              <a:ext uri="{FF2B5EF4-FFF2-40B4-BE49-F238E27FC236}">
                <a16:creationId xmlns:a16="http://schemas.microsoft.com/office/drawing/2014/main" id="{81826D0A-D69B-C8B8-E20D-FB9551B3E9A3}"/>
              </a:ext>
            </a:extLst>
          </p:cNvPr>
          <p:cNvSpPr/>
          <p:nvPr/>
        </p:nvSpPr>
        <p:spPr>
          <a:xfrm>
            <a:off x="1102362" y="5380228"/>
            <a:ext cx="420624" cy="256032"/>
          </a:xfrm>
          <a:prstGeom prst="roundRect">
            <a:avLst>
              <a:gd name="adj" fmla="val 28571"/>
            </a:avLst>
          </a:prstGeom>
          <a:solidFill>
            <a:schemeClr val="bg1">
              <a:lumMod val="75000"/>
              <a:alpha val="16000"/>
            </a:schemeClr>
          </a:solidFill>
          <a:ln w="12700">
            <a:solidFill>
              <a:schemeClr val="bg1">
                <a:lumMod val="50000"/>
                <a:alpha val="80000"/>
              </a:schemeClr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68680"/>
            <a:ext cx="10789920" cy="5212080"/>
          </a:xfrm>
          <a:prstGeom prst="roundRect">
            <a:avLst>
              <a:gd name="adj" fmla="val 1404"/>
            </a:avLst>
          </a:prstGeom>
          <a:solidFill>
            <a:srgbClr val="0D1423"/>
          </a:solidFill>
          <a:ln w="12700">
            <a:solidFill>
              <a:srgbClr val="2530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6012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SIMCOMP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0120" y="15727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60120" y="214884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8E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demuestra una arquitectura distribuida, ejecutable y coherente con principios de dominio, seguridad y despliegue en infraestructura virtualizada.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60120" y="3246120"/>
            <a:ext cx="2971800" cy="676656"/>
          </a:xfrm>
          <a:prstGeom prst="roundRect">
            <a:avLst>
              <a:gd name="adj" fmla="val 10811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7" name="Text 5"/>
          <p:cNvSpPr/>
          <p:nvPr/>
        </p:nvSpPr>
        <p:spPr>
          <a:xfrm>
            <a:off x="1133856" y="346557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</a:rPr>
              <a:t>6 microservicios backend reales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3246120"/>
            <a:ext cx="2971800" cy="676656"/>
          </a:xfrm>
          <a:prstGeom prst="roundRect">
            <a:avLst>
              <a:gd name="adj" fmla="val 10811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471416" y="346557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9EFF"/>
                </a:solidFill>
              </a:rPr>
              <a:t>Puertos correctos: 8001–8006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0120" y="4160520"/>
            <a:ext cx="2971800" cy="676656"/>
          </a:xfrm>
          <a:prstGeom prst="roundRect">
            <a:avLst>
              <a:gd name="adj" fmla="val 10811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133856" y="437997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CB7C"/>
                </a:solidFill>
              </a:rPr>
              <a:t>Frontend React + JWT + Gateway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97680" y="4160520"/>
            <a:ext cx="2971800" cy="676656"/>
          </a:xfrm>
          <a:prstGeom prst="roundRect">
            <a:avLst>
              <a:gd name="adj" fmla="val 10811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471416" y="437997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78BFA"/>
                </a:solidFill>
              </a:rPr>
              <a:t>Docker local y Vagrant en 3 VMs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458200" y="1371600"/>
            <a:ext cx="2286000" cy="356616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12700">
            <a:solidFill>
              <a:srgbClr val="2A3346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869680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AF0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778240" y="2788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41080" y="32186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7B0C2"/>
                </a:solidFill>
              </a:rPr>
              <a:t>¿Preguntas?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75720" y="2743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0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1099</Words>
  <Application>Microsoft Office PowerPoint</Application>
  <PresentationFormat>Panorámica</PresentationFormat>
  <Paragraphs>232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SIMCOMP — Sistema de Comparendos de Tránsito</dc:title>
  <dc:subject>SIMCOMP - Presentación final</dc:subject>
  <dc:creator>OpenAI</dc:creator>
  <cp:lastModifiedBy>MAURICIO TABORDA GONGORA</cp:lastModifiedBy>
  <cp:revision>4</cp:revision>
  <dcterms:created xsi:type="dcterms:W3CDTF">2026-03-20T03:25:31Z</dcterms:created>
  <dcterms:modified xsi:type="dcterms:W3CDTF">2026-04-06T00:13:48Z</dcterms:modified>
</cp:coreProperties>
</file>