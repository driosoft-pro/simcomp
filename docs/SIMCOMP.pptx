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A"/>
          </a:solidFill>
          <a:ln w="12700">
            <a:solidFill>
              <a:srgbClr val="0A0F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355080"/>
            <a:ext cx="11109960" cy="0"/>
          </a:xfrm>
          <a:prstGeom prst="line">
            <a:avLst/>
          </a:prstGeom>
          <a:noFill/>
          <a:ln w="12700">
            <a:solidFill>
              <a:srgbClr val="2932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19088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5A0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SIMCOMP · Redes e Infraestructuras · UAO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9601200" y="6419088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5A0B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v1.0 · 11 mar 2026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94360"/>
            <a:ext cx="10972800" cy="5394960"/>
          </a:xfrm>
          <a:prstGeom prst="roundRect">
            <a:avLst>
              <a:gd name="adj" fmla="val 1356"/>
            </a:avLst>
          </a:prstGeom>
          <a:solidFill>
            <a:srgbClr val="0D1423"/>
          </a:solidFill>
          <a:ln w="12700">
            <a:solidFill>
              <a:srgbClr val="2530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868680"/>
            <a:ext cx="1371600" cy="329184"/>
          </a:xfrm>
          <a:prstGeom prst="roundRect">
            <a:avLst>
              <a:gd name="adj" fmla="val 22222"/>
            </a:avLst>
          </a:prstGeom>
          <a:solidFill>
            <a:srgbClr val="F5A623">
              <a:alpha val="16000"/>
            </a:srgbClr>
          </a:solidFill>
          <a:ln w="12700">
            <a:solidFill>
              <a:srgbClr val="F5A623">
                <a:alpha val="8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93268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A623"/>
                </a:solidFill>
              </a:rPr>
              <a:t>PRESENTACIÓN FINAL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22960" y="1325880"/>
            <a:ext cx="3749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EAF0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SIMCOMP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822960" y="208483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rgbClr val="F5A6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Sistema de Comparendos</a:t>
            </a:r>
            <a:endParaRPr lang="en-US" sz="2150" dirty="0"/>
          </a:p>
          <a:p>
            <a:pPr indent="0" marL="0">
              <a:buNone/>
            </a:pPr>
            <a:r>
              <a:rPr lang="en-US" sz="2150" b="1" dirty="0">
                <a:solidFill>
                  <a:srgbClr val="F5A6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Tránsito</a:t>
            </a:r>
            <a:endParaRPr lang="en-US" sz="2150" dirty="0"/>
          </a:p>
        </p:txBody>
      </p:sp>
      <p:sp>
        <p:nvSpPr>
          <p:cNvPr id="7" name="Text 5"/>
          <p:cNvSpPr/>
          <p:nvPr/>
        </p:nvSpPr>
        <p:spPr>
          <a:xfrm>
            <a:off x="822960" y="2999232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Arquitectura de microservicios REST para gestión de comparendos, autenticación, frontend React y despliegue en Docker o Vagrant + Ansible.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172200" y="914400"/>
            <a:ext cx="4892040" cy="4526280"/>
          </a:xfrm>
          <a:prstGeom prst="roundRect">
            <a:avLst>
              <a:gd name="adj" fmla="val 1616"/>
            </a:avLst>
          </a:prstGeom>
          <a:solidFill>
            <a:srgbClr val="111827"/>
          </a:solidFill>
          <a:ln w="12700">
            <a:solidFill>
              <a:srgbClr val="2A3346"/>
            </a:solidFill>
            <a:prstDash val="solid"/>
          </a:ln>
          <a:effectLst>
            <a:outerShdw sx="100000" sy="100000" kx="0" ky="0" algn="bl" rotWithShape="0" blurRad="19050" dist="6350" dir="2700000">
              <a:srgbClr val="000000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0" y="111556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AF0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Resumen ejecutivo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0" y="1554480"/>
            <a:ext cx="2029968" cy="749808"/>
          </a:xfrm>
          <a:prstGeom prst="roundRect">
            <a:avLst>
              <a:gd name="adj" fmla="val 9756"/>
            </a:avLst>
          </a:prstGeom>
          <a:solidFill>
            <a:srgbClr val="0F172A"/>
          </a:solidFill>
          <a:ln w="12700">
            <a:solidFill>
              <a:srgbClr val="2A334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65392" y="1700784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A6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565392" y="202996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microservicios backend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668512" y="1554480"/>
            <a:ext cx="2029968" cy="749808"/>
          </a:xfrm>
          <a:prstGeom prst="roundRect">
            <a:avLst>
              <a:gd name="adj" fmla="val 9756"/>
            </a:avLst>
          </a:prstGeom>
          <a:solidFill>
            <a:srgbClr val="0F172A"/>
          </a:solidFill>
          <a:ln w="12700">
            <a:solidFill>
              <a:srgbClr val="2A334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33104" y="1700784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A9E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833104" y="202996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clusters PostgreSQL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2468880"/>
            <a:ext cx="2029968" cy="749808"/>
          </a:xfrm>
          <a:prstGeom prst="roundRect">
            <a:avLst>
              <a:gd name="adj" fmla="val 9756"/>
            </a:avLst>
          </a:prstGeom>
          <a:solidFill>
            <a:srgbClr val="0F172A"/>
          </a:solidFill>
          <a:ln w="12700">
            <a:solidFill>
              <a:srgbClr val="2A334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65392" y="2615184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ECB7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565392" y="294436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VMs en Vagrant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668512" y="2468880"/>
            <a:ext cx="2029968" cy="749808"/>
          </a:xfrm>
          <a:prstGeom prst="roundRect">
            <a:avLst>
              <a:gd name="adj" fmla="val 9756"/>
            </a:avLst>
          </a:prstGeom>
          <a:solidFill>
            <a:srgbClr val="0F172A"/>
          </a:solidFill>
          <a:ln w="12700">
            <a:solidFill>
              <a:srgbClr val="2A334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833104" y="2615184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78BF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JWT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8833104" y="294436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seguridad y sesiones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0" y="3566160"/>
            <a:ext cx="4434840" cy="1417320"/>
          </a:xfrm>
          <a:prstGeom prst="roundRect">
            <a:avLst>
              <a:gd name="adj" fmla="val 5161"/>
            </a:avLst>
          </a:prstGeom>
          <a:solidFill>
            <a:srgbClr val="0F172A"/>
          </a:solidFill>
          <a:ln w="12700">
            <a:solidFill>
              <a:srgbClr val="2A334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0" y="3749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</a:rPr>
              <a:t>Autores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0" y="3977640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AF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Deyton Riascos Ortiz — 2246208
</a:t>
            </a:r>
            <a:pPr indent="0" marL="0">
              <a:buNone/>
            </a:pPr>
            <a:r>
              <a:rPr lang="en-US" sz="1500" dirty="0">
                <a:solidFill>
                  <a:srgbClr val="EAF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Samuel Izquierdo Bonilla — 2246993
</a:t>
            </a:r>
            <a:pPr indent="0" marL="0">
              <a:buNone/>
            </a:pPr>
            <a:r>
              <a:rPr lang="en-US" sz="1500" dirty="0">
                <a:solidFill>
                  <a:srgbClr val="EAF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Mauricio Taborda Gongora — 2246998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22960" y="489204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8E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Universidad Autónoma de Occidente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8E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Ingeniería de Datos e Inteligencia Artificial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8E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Redes e Infraestructuras · 11 de marzo de 2026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1475720" y="27432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· CONTEXTO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8046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AF0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Problema, alcance y principios de diseño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proyecto organiza la gestión de tránsito con servicios desacoplados, datos propios y validación entre dominios.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192024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111827"/>
          </a:solidFill>
          <a:ln w="12700">
            <a:solidFill>
              <a:srgbClr val="2A3346"/>
            </a:solidFill>
            <a:prstDash val="solid"/>
          </a:ln>
          <a:effectLst>
            <a:outerShdw sx="100000" sy="100000" kx="0" ky="0" algn="bl" rotWithShape="0" blurRad="19050" dist="6350" dir="2700000">
              <a:srgbClr val="000000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920240"/>
            <a:ext cx="361188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2048256"/>
            <a:ext cx="32826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PROPÓSITO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50392" y="2231136"/>
            <a:ext cx="3282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0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resuelve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50392" y="2615184"/>
            <a:ext cx="328269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6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Centraliza personas, automotores, infracciones, autenticación y comparendos en una solución ejecutable localmente o en 3 VMs provisionadas.</a:t>
            </a:r>
            <a:endParaRPr lang="en-US" sz="1260" dirty="0"/>
          </a:p>
        </p:txBody>
      </p:sp>
      <p:sp>
        <p:nvSpPr>
          <p:cNvPr id="10" name="Shape 8"/>
          <p:cNvSpPr/>
          <p:nvPr/>
        </p:nvSpPr>
        <p:spPr>
          <a:xfrm>
            <a:off x="4480560" y="1920240"/>
            <a:ext cx="3429000" cy="2148840"/>
          </a:xfrm>
          <a:prstGeom prst="roundRect">
            <a:avLst>
              <a:gd name="adj" fmla="val 3404"/>
            </a:avLst>
          </a:prstGeom>
          <a:solidFill>
            <a:srgbClr val="111827"/>
          </a:solidFill>
          <a:ln w="12700">
            <a:solidFill>
              <a:srgbClr val="2A3346"/>
            </a:solidFill>
            <a:prstDash val="solid"/>
          </a:ln>
          <a:effectLst>
            <a:outerShdw sx="100000" sy="100000" kx="0" ky="0" algn="bl" rotWithShape="0" blurRad="19050" dist="6350" dir="2700000">
              <a:srgbClr val="000000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80560" y="1920240"/>
            <a:ext cx="3429000" cy="54864"/>
          </a:xfrm>
          <a:prstGeom prst="rect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45152" y="2048256"/>
            <a:ext cx="30998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DISEÑO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645152" y="2231136"/>
            <a:ext cx="3099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0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Restricciones clave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645152" y="2615184"/>
            <a:ext cx="309981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6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microservicio es dueño de sus datos. Las referencias entre servicios se manejan con UUID y APIs REST síncronas; no hay llaves foráneas cruzadas.</a:t>
            </a:r>
            <a:endParaRPr lang="en-US" sz="1260" dirty="0"/>
          </a:p>
        </p:txBody>
      </p:sp>
      <p:sp>
        <p:nvSpPr>
          <p:cNvPr id="15" name="Shape 13"/>
          <p:cNvSpPr/>
          <p:nvPr/>
        </p:nvSpPr>
        <p:spPr>
          <a:xfrm>
            <a:off x="8092440" y="1920240"/>
            <a:ext cx="3383280" cy="2148840"/>
          </a:xfrm>
          <a:prstGeom prst="roundRect">
            <a:avLst>
              <a:gd name="adj" fmla="val 3404"/>
            </a:avLst>
          </a:prstGeom>
          <a:solidFill>
            <a:srgbClr val="111827"/>
          </a:solidFill>
          <a:ln w="12700">
            <a:solidFill>
              <a:srgbClr val="2A3346"/>
            </a:solidFill>
            <a:prstDash val="solid"/>
          </a:ln>
          <a:effectLst>
            <a:outerShdw sx="100000" sy="100000" kx="0" ky="0" algn="bl" rotWithShape="0" blurRad="19050" dist="6350" dir="2700000">
              <a:srgbClr val="000000">
                <a:alpha val="14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092440" y="1920240"/>
            <a:ext cx="3383280" cy="54864"/>
          </a:xfrm>
          <a:prstGeom prst="rect">
            <a:avLst/>
          </a:prstGeom>
          <a:solidFill>
            <a:srgbClr val="5ECB7C"/>
          </a:solidFill>
          <a:ln w="12700">
            <a:solidFill>
              <a:srgbClr val="5ECB7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57032" y="2048256"/>
            <a:ext cx="30540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ECB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STACK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57032" y="2231136"/>
            <a:ext cx="3054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0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Tecnologías base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257032" y="2615184"/>
            <a:ext cx="305409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6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Node.js 22 · Express 4 · PostgreSQL 14 · Vagrant · Ansible · Swagger/OpenAPI · Frontend React 19 + TypeScript + Vite.</a:t>
            </a:r>
            <a:endParaRPr lang="en-US" sz="1260" dirty="0"/>
          </a:p>
        </p:txBody>
      </p:sp>
      <p:sp>
        <p:nvSpPr>
          <p:cNvPr id="20" name="Shape 18"/>
          <p:cNvSpPr/>
          <p:nvPr/>
        </p:nvSpPr>
        <p:spPr>
          <a:xfrm>
            <a:off x="685800" y="4389120"/>
            <a:ext cx="10789920" cy="1417320"/>
          </a:xfrm>
          <a:prstGeom prst="roundRect">
            <a:avLst>
              <a:gd name="adj" fmla="val 5161"/>
            </a:avLst>
          </a:prstGeom>
          <a:solidFill>
            <a:srgbClr val="0F172A"/>
          </a:solidFill>
          <a:ln w="12700">
            <a:solidFill>
              <a:srgbClr val="2A334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4727448"/>
            <a:ext cx="73152" cy="7315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60704" y="4617720"/>
            <a:ext cx="10094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AF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Comunicación entre servicios exclusivamente vía REST/HTTP.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914400" y="4983480"/>
            <a:ext cx="73152" cy="7315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60704" y="4873752"/>
            <a:ext cx="10094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AF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Valores monetarios modelados con DECIMAL(12,2).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914400" y="5239512"/>
            <a:ext cx="73152" cy="7315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60704" y="5129784"/>
            <a:ext cx="10094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AF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servicio expone health check y documentación Swagger.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914400" y="5495544"/>
            <a:ext cx="73152" cy="7315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" y="5385816"/>
            <a:ext cx="10094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AF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consistencia se garantiza a nivel de servicio y reglas de negocio.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1475720" y="27432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· ARQUITECTURA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8046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AF0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Topología general de despliegue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Producción académica sobre 3 VMs: DNS, API + bases de datos y Web/Gateway; además puede ejecutarse en Docker para entorno local.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31520" y="224028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0F172A"/>
          </a:solidFill>
          <a:ln w="12700">
            <a:solidFill>
              <a:srgbClr val="2A3346"/>
            </a:solidFill>
            <a:prstDash val="solid"/>
          </a:ln>
          <a:effectLst>
            <a:outerShdw sx="100000" sy="100000" kx="0" ky="0" algn="bl" rotWithShape="0" blurRad="19050" dist="6350" dir="2700000">
              <a:srgbClr val="000000">
                <a:alpha val="14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2496312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AF0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Navegador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EAF0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usuario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133856" y="2980944"/>
            <a:ext cx="1097280" cy="256032"/>
          </a:xfrm>
          <a:prstGeom prst="roundRect">
            <a:avLst>
              <a:gd name="adj" fmla="val 28571"/>
            </a:avLst>
          </a:prstGeom>
          <a:solidFill>
            <a:srgbClr val="F5A623">
              <a:alpha val="16000"/>
            </a:srgbClr>
          </a:solidFill>
          <a:ln w="12700">
            <a:solidFill>
              <a:srgbClr val="F5A623">
                <a:alpha val="8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33856" y="29946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simcomp.co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651760" y="2770632"/>
            <a:ext cx="274320" cy="0"/>
          </a:xfrm>
          <a:prstGeom prst="line">
            <a:avLst/>
          </a:prstGeom>
          <a:noFill/>
          <a:ln w="12700">
            <a:solidFill>
              <a:srgbClr val="F5A623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458968" y="2770632"/>
            <a:ext cx="411480" cy="0"/>
          </a:xfrm>
          <a:prstGeom prst="line">
            <a:avLst/>
          </a:prstGeom>
          <a:noFill/>
          <a:ln w="12700">
            <a:solidFill>
              <a:srgbClr val="F5A623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360920" y="4005072"/>
            <a:ext cx="0" cy="219456"/>
          </a:xfrm>
          <a:prstGeom prst="line">
            <a:avLst/>
          </a:prstGeom>
          <a:noFill/>
          <a:ln w="12700">
            <a:solidFill>
              <a:srgbClr val="4A9EFF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971800" y="2148840"/>
            <a:ext cx="2468880" cy="1828800"/>
          </a:xfrm>
          <a:prstGeom prst="roundRect">
            <a:avLst>
              <a:gd name="adj" fmla="val 4000"/>
            </a:avLst>
          </a:prstGeom>
          <a:solidFill>
            <a:srgbClr val="111827"/>
          </a:solidFill>
          <a:ln w="12700">
            <a:solidFill>
              <a:srgbClr val="2A3346"/>
            </a:solidFill>
            <a:prstDash val="solid"/>
          </a:ln>
          <a:effectLst>
            <a:outerShdw sx="100000" sy="100000" kx="0" ky="0" algn="bl" rotWithShape="0" blurRad="19050" dist="6350" dir="2700000">
              <a:srgbClr val="000000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971800" y="2148840"/>
            <a:ext cx="246888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136392" y="2276856"/>
            <a:ext cx="21396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VM WEB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136392" y="2459736"/>
            <a:ext cx="2139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0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srv-simcomp-web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136392" y="2843784"/>
            <a:ext cx="21396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6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IP 192.168.100.4</a:t>
            </a:r>
            <a:endParaRPr lang="en-US" sz="1260" dirty="0"/>
          </a:p>
          <a:p>
            <a:pPr indent="0" marL="0">
              <a:buNone/>
            </a:pPr>
            <a:r>
              <a:rPr lang="en-US" sz="126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Nginx + React SPA</a:t>
            </a:r>
            <a:endParaRPr lang="en-US" sz="1260" dirty="0"/>
          </a:p>
          <a:p>
            <a:pPr indent="0" marL="0">
              <a:buNone/>
            </a:pPr>
            <a:r>
              <a:rPr lang="en-US" sz="126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Gateway hacia servicios 8001–8005</a:t>
            </a:r>
            <a:endParaRPr lang="en-US" sz="1260" dirty="0"/>
          </a:p>
        </p:txBody>
      </p:sp>
      <p:sp>
        <p:nvSpPr>
          <p:cNvPr id="17" name="Shape 15"/>
          <p:cNvSpPr/>
          <p:nvPr/>
        </p:nvSpPr>
        <p:spPr>
          <a:xfrm>
            <a:off x="5989320" y="1993392"/>
            <a:ext cx="2743200" cy="2176272"/>
          </a:xfrm>
          <a:prstGeom prst="roundRect">
            <a:avLst>
              <a:gd name="adj" fmla="val 3361"/>
            </a:avLst>
          </a:prstGeom>
          <a:solidFill>
            <a:srgbClr val="111827"/>
          </a:solidFill>
          <a:ln w="12700">
            <a:solidFill>
              <a:srgbClr val="2A3346"/>
            </a:solidFill>
            <a:prstDash val="solid"/>
          </a:ln>
          <a:effectLst>
            <a:outerShdw sx="100000" sy="100000" kx="0" ky="0" algn="bl" rotWithShape="0" blurRad="19050" dist="6350" dir="2700000">
              <a:srgbClr val="000000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989320" y="1993392"/>
            <a:ext cx="2743200" cy="54864"/>
          </a:xfrm>
          <a:prstGeom prst="rect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53912" y="2121408"/>
            <a:ext cx="2414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VM API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53912" y="2304288"/>
            <a:ext cx="2414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0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srv-simcomp-api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153912" y="2688336"/>
            <a:ext cx="2414016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6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IP 192.168.100.3</a:t>
            </a:r>
            <a:endParaRPr lang="en-US" sz="1260" dirty="0"/>
          </a:p>
          <a:p>
            <a:pPr indent="0" marL="0">
              <a:buNone/>
            </a:pPr>
            <a:r>
              <a:rPr lang="en-US" sz="126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 microservicios Node.js + PM2</a:t>
            </a:r>
            <a:endParaRPr lang="en-US" sz="1260" dirty="0"/>
          </a:p>
          <a:p>
            <a:pPr indent="0" marL="0">
              <a:buNone/>
            </a:pPr>
            <a:r>
              <a:rPr lang="en-US" sz="126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 clusters PostgreSQL independientes</a:t>
            </a:r>
            <a:endParaRPr lang="en-US" sz="1260" dirty="0"/>
          </a:p>
        </p:txBody>
      </p:sp>
      <p:sp>
        <p:nvSpPr>
          <p:cNvPr id="22" name="Shape 20"/>
          <p:cNvSpPr/>
          <p:nvPr/>
        </p:nvSpPr>
        <p:spPr>
          <a:xfrm>
            <a:off x="9098280" y="2148840"/>
            <a:ext cx="2331720" cy="1828800"/>
          </a:xfrm>
          <a:prstGeom prst="roundRect">
            <a:avLst>
              <a:gd name="adj" fmla="val 4000"/>
            </a:avLst>
          </a:prstGeom>
          <a:solidFill>
            <a:srgbClr val="111827"/>
          </a:solidFill>
          <a:ln w="12700">
            <a:solidFill>
              <a:srgbClr val="2A3346"/>
            </a:solidFill>
            <a:prstDash val="solid"/>
          </a:ln>
          <a:effectLst>
            <a:outerShdw sx="100000" sy="100000" kx="0" ky="0" algn="bl" rotWithShape="0" blurRad="19050" dist="6350" dir="2700000">
              <a:srgbClr val="000000">
                <a:alpha val="14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098280" y="2148840"/>
            <a:ext cx="2331720" cy="54864"/>
          </a:xfrm>
          <a:prstGeom prst="rect">
            <a:avLst/>
          </a:prstGeom>
          <a:solidFill>
            <a:srgbClr val="5ECB7C"/>
          </a:solidFill>
          <a:ln w="12700">
            <a:solidFill>
              <a:srgbClr val="5ECB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62872" y="2276856"/>
            <a:ext cx="20025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ECB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VM DNS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262872" y="24597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0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srv-simcomp-dns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262872" y="2843784"/>
            <a:ext cx="200253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6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IP 192.168.100.2</a:t>
            </a:r>
            <a:endParaRPr lang="en-US" sz="1260" dirty="0"/>
          </a:p>
          <a:p>
            <a:pPr indent="0" marL="0">
              <a:buNone/>
            </a:pPr>
            <a:r>
              <a:rPr lang="en-US" sz="126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BIND9 · zona local simcomp.co</a:t>
            </a:r>
            <a:endParaRPr lang="en-US" sz="1260" dirty="0"/>
          </a:p>
          <a:p>
            <a:pPr indent="0" marL="0">
              <a:buNone/>
            </a:pPr>
            <a:r>
              <a:rPr lang="en-US" sz="126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Resolución de dominio en laboratorio</a:t>
            </a:r>
            <a:endParaRPr lang="en-US" sz="1260" dirty="0"/>
          </a:p>
        </p:txBody>
      </p:sp>
      <p:sp>
        <p:nvSpPr>
          <p:cNvPr id="27" name="Shape 25"/>
          <p:cNvSpPr/>
          <p:nvPr/>
        </p:nvSpPr>
        <p:spPr>
          <a:xfrm>
            <a:off x="6080760" y="4315968"/>
            <a:ext cx="5349240" cy="1097280"/>
          </a:xfrm>
          <a:prstGeom prst="roundRect">
            <a:avLst>
              <a:gd name="adj" fmla="val 6667"/>
            </a:avLst>
          </a:prstGeom>
          <a:solidFill>
            <a:srgbClr val="0F172A"/>
          </a:solidFill>
          <a:ln w="12700">
            <a:solidFill>
              <a:srgbClr val="2A334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0" y="4498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</a:rPr>
              <a:t>Tráfico clave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309360" y="4736592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80" dirty="0">
                <a:solidFill>
                  <a:srgbClr val="D8E2F0"/>
                </a:solidFill>
              </a:rPr>
              <a:t>Frontend por Nginx + JWT. Backend en 8001–8005. Clusters PostgreSQL en 5432–5436.</a:t>
            </a:r>
            <a:endParaRPr lang="en-US" sz="1280" dirty="0"/>
          </a:p>
        </p:txBody>
      </p:sp>
      <p:sp>
        <p:nvSpPr>
          <p:cNvPr id="30" name="Text 28"/>
          <p:cNvSpPr/>
          <p:nvPr/>
        </p:nvSpPr>
        <p:spPr>
          <a:xfrm>
            <a:off x="11475720" y="27432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BACKEND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8046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AF0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Cinco microservicios y sus puertos correctos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corrección principal del proyecto: el backend no usa la serie 300x. Los servicios corren en 8001–8005.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1920240"/>
            <a:ext cx="2148840" cy="1828800"/>
          </a:xfrm>
          <a:prstGeom prst="roundRect">
            <a:avLst>
              <a:gd name="adj" fmla="val 4000"/>
            </a:avLst>
          </a:prstGeom>
          <a:solidFill>
            <a:srgbClr val="111827"/>
          </a:solidFill>
          <a:ln w="12700">
            <a:solidFill>
              <a:srgbClr val="2A3346"/>
            </a:solidFill>
            <a:prstDash val="solid"/>
          </a:ln>
          <a:effectLst>
            <a:outerShdw sx="100000" sy="100000" kx="0" ky="0" algn="bl" rotWithShape="0" blurRad="19050" dist="6350" dir="2700000">
              <a:srgbClr val="000000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32104" y="2066544"/>
            <a:ext cx="658368" cy="256032"/>
          </a:xfrm>
          <a:prstGeom prst="roundRect">
            <a:avLst>
              <a:gd name="adj" fmla="val 28571"/>
            </a:avLst>
          </a:prstGeom>
          <a:solidFill>
            <a:srgbClr val="F5A623">
              <a:alpha val="16000"/>
            </a:srgbClr>
          </a:solidFill>
          <a:ln w="12700">
            <a:solidFill>
              <a:srgbClr val="F5A623">
                <a:alpha val="8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2080260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8001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32104" y="2404872"/>
            <a:ext cx="1856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0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ms-auth-service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32104" y="2779776"/>
            <a:ext cx="1856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Usuarios, login, refresh token, validación JWT y roles del sistema.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063240" y="1920240"/>
            <a:ext cx="2148840" cy="1828800"/>
          </a:xfrm>
          <a:prstGeom prst="roundRect">
            <a:avLst>
              <a:gd name="adj" fmla="val 4000"/>
            </a:avLst>
          </a:prstGeom>
          <a:solidFill>
            <a:srgbClr val="111827"/>
          </a:solidFill>
          <a:ln w="12700">
            <a:solidFill>
              <a:srgbClr val="2A3346"/>
            </a:solidFill>
            <a:prstDash val="solid"/>
          </a:ln>
          <a:effectLst>
            <a:outerShdw sx="100000" sy="100000" kx="0" ky="0" algn="bl" rotWithShape="0" blurRad="19050" dist="6350" dir="2700000">
              <a:srgbClr val="000000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9544" y="2066544"/>
            <a:ext cx="658368" cy="256032"/>
          </a:xfrm>
          <a:prstGeom prst="roundRect">
            <a:avLst>
              <a:gd name="adj" fmla="val 28571"/>
            </a:avLst>
          </a:prstGeom>
          <a:solidFill>
            <a:srgbClr val="5ECB7C">
              <a:alpha val="16000"/>
            </a:srgbClr>
          </a:solidFill>
          <a:ln w="12700">
            <a:solidFill>
              <a:srgbClr val="5ECB7C">
                <a:alpha val="8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9544" y="2080260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CB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8002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09544" y="2404872"/>
            <a:ext cx="1856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0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ms-personas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209544" y="2779776"/>
            <a:ext cx="1856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Ciudadanos, datos personales y licencias de conducción.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40680" y="1920240"/>
            <a:ext cx="2148840" cy="1828800"/>
          </a:xfrm>
          <a:prstGeom prst="roundRect">
            <a:avLst>
              <a:gd name="adj" fmla="val 4000"/>
            </a:avLst>
          </a:prstGeom>
          <a:solidFill>
            <a:srgbClr val="111827"/>
          </a:solidFill>
          <a:ln w="12700">
            <a:solidFill>
              <a:srgbClr val="2A3346"/>
            </a:solidFill>
            <a:prstDash val="solid"/>
          </a:ln>
          <a:effectLst>
            <a:outerShdw sx="100000" sy="100000" kx="0" ky="0" algn="bl" rotWithShape="0" blurRad="19050" dist="6350" dir="2700000">
              <a:srgbClr val="000000">
                <a:alpha val="14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586984" y="2066544"/>
            <a:ext cx="658368" cy="256032"/>
          </a:xfrm>
          <a:prstGeom prst="roundRect">
            <a:avLst>
              <a:gd name="adj" fmla="val 28571"/>
            </a:avLst>
          </a:prstGeom>
          <a:solidFill>
            <a:srgbClr val="4A9EFF">
              <a:alpha val="16000"/>
            </a:srgbClr>
          </a:solidFill>
          <a:ln w="12700">
            <a:solidFill>
              <a:srgbClr val="4A9EFF">
                <a:alpha val="8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586984" y="2080260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9E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8003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586984" y="2404872"/>
            <a:ext cx="1856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0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ms-automotores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586984" y="2779776"/>
            <a:ext cx="1856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 técnico del vehículo y asociación con propietario.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818120" y="1920240"/>
            <a:ext cx="2148840" cy="1828800"/>
          </a:xfrm>
          <a:prstGeom prst="roundRect">
            <a:avLst>
              <a:gd name="adj" fmla="val 4000"/>
            </a:avLst>
          </a:prstGeom>
          <a:solidFill>
            <a:srgbClr val="111827"/>
          </a:solidFill>
          <a:ln w="12700">
            <a:solidFill>
              <a:srgbClr val="2A3346"/>
            </a:solidFill>
            <a:prstDash val="solid"/>
          </a:ln>
          <a:effectLst>
            <a:outerShdw sx="100000" sy="100000" kx="0" ky="0" algn="bl" rotWithShape="0" blurRad="19050" dist="6350" dir="2700000">
              <a:srgbClr val="000000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964424" y="2066544"/>
            <a:ext cx="658368" cy="256032"/>
          </a:xfrm>
          <a:prstGeom prst="roundRect">
            <a:avLst>
              <a:gd name="adj" fmla="val 28571"/>
            </a:avLst>
          </a:prstGeom>
          <a:solidFill>
            <a:srgbClr val="A78BFA">
              <a:alpha val="16000"/>
            </a:srgbClr>
          </a:solidFill>
          <a:ln w="12700">
            <a:solidFill>
              <a:srgbClr val="A78BFA">
                <a:alpha val="8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64424" y="2080260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8B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8004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964424" y="2404872"/>
            <a:ext cx="1856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0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ms-infracciones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964424" y="2779776"/>
            <a:ext cx="18562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Catálogo oficial de infracciones y multas vigentes.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874520" y="4069080"/>
            <a:ext cx="8275320" cy="1417320"/>
          </a:xfrm>
          <a:prstGeom prst="roundRect">
            <a:avLst>
              <a:gd name="adj" fmla="val 5161"/>
            </a:avLst>
          </a:prstGeom>
          <a:solidFill>
            <a:srgbClr val="151620"/>
          </a:solidFill>
          <a:ln w="12700">
            <a:solidFill>
              <a:srgbClr val="2A3346"/>
            </a:solidFill>
            <a:prstDash val="solid"/>
          </a:ln>
          <a:effectLst>
            <a:outerShdw sx="100000" sy="100000" kx="0" ky="0" algn="bl" rotWithShape="0" blurRad="19050" dist="6350" dir="2700000">
              <a:srgbClr val="000000">
                <a:alpha val="14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020824" y="4215384"/>
            <a:ext cx="658368" cy="256032"/>
          </a:xfrm>
          <a:prstGeom prst="roundRect">
            <a:avLst>
              <a:gd name="adj" fmla="val 28571"/>
            </a:avLst>
          </a:prstGeom>
          <a:solidFill>
            <a:srgbClr val="E8504A">
              <a:alpha val="16000"/>
            </a:srgbClr>
          </a:solidFill>
          <a:ln w="12700">
            <a:solidFill>
              <a:srgbClr val="E8504A">
                <a:alpha val="8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020824" y="4229100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5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8005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020824" y="4553712"/>
            <a:ext cx="7982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F0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ms-comparendos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2020824" y="4928616"/>
            <a:ext cx="7982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del negocio: registra comparendos y maneja el ciclo de vida.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011680" y="5577840"/>
            <a:ext cx="8092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D8E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servicio de comparendos depende lógicamente de personas, automotores e infracciones, y además la plataforma incorpora autenticación como quinto microservicio de backend.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475720" y="27432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· DATOS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8046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AF0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Propiedad de datos y clusters PostgreSQL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aísla completamente el almacenamiento: un servicio, una base de datos, un puerto y un cluster independiente.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31520" y="2084832"/>
            <a:ext cx="7223760" cy="3401568"/>
          </a:xfrm>
          <a:prstGeom prst="roundRect">
            <a:avLst>
              <a:gd name="adj" fmla="val 2151"/>
            </a:avLst>
          </a:prstGeom>
          <a:solidFill>
            <a:srgbClr val="111827"/>
          </a:solidFill>
          <a:ln w="12700">
            <a:solidFill>
              <a:srgbClr val="2A334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2860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</a:rPr>
              <a:t>Servicio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749040" y="22860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</a:rPr>
              <a:t>Puerto API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754880" y="22860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</a:rPr>
              <a:t>DB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0" y="22860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</a:rPr>
              <a:t>Puerto DB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903720" y="22860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</a:rPr>
              <a:t>Cluster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68680" y="2560320"/>
            <a:ext cx="6858000" cy="0"/>
          </a:xfrm>
          <a:prstGeom prst="line">
            <a:avLst/>
          </a:prstGeom>
          <a:noFill/>
          <a:ln w="12700">
            <a:solidFill>
              <a:srgbClr val="2430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263347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EAF0FF"/>
                </a:solidFill>
              </a:rPr>
              <a:t>ms-auth-service</a:t>
            </a:r>
            <a:endParaRPr lang="en-US" sz="1320" dirty="0"/>
          </a:p>
        </p:txBody>
      </p:sp>
      <p:sp>
        <p:nvSpPr>
          <p:cNvPr id="13" name="Text 11"/>
          <p:cNvSpPr/>
          <p:nvPr/>
        </p:nvSpPr>
        <p:spPr>
          <a:xfrm>
            <a:off x="3749040" y="26334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D8E2F0"/>
                </a:solidFill>
              </a:rPr>
              <a:t>8001</a:t>
            </a:r>
            <a:endParaRPr lang="en-US" sz="1320" dirty="0"/>
          </a:p>
        </p:txBody>
      </p:sp>
      <p:sp>
        <p:nvSpPr>
          <p:cNvPr id="14" name="Text 12"/>
          <p:cNvSpPr/>
          <p:nvPr/>
        </p:nvSpPr>
        <p:spPr>
          <a:xfrm>
            <a:off x="4754880" y="2633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D8E2F0"/>
                </a:solidFill>
              </a:rPr>
              <a:t>auth_db</a:t>
            </a:r>
            <a:endParaRPr lang="en-US" sz="1320" dirty="0"/>
          </a:p>
        </p:txBody>
      </p:sp>
      <p:sp>
        <p:nvSpPr>
          <p:cNvPr id="15" name="Text 13"/>
          <p:cNvSpPr/>
          <p:nvPr/>
        </p:nvSpPr>
        <p:spPr>
          <a:xfrm>
            <a:off x="5943600" y="263347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D8E2F0"/>
                </a:solidFill>
              </a:rPr>
              <a:t>5432</a:t>
            </a:r>
            <a:endParaRPr lang="en-US" sz="1320" dirty="0"/>
          </a:p>
        </p:txBody>
      </p:sp>
      <p:sp>
        <p:nvSpPr>
          <p:cNvPr id="16" name="Text 14"/>
          <p:cNvSpPr/>
          <p:nvPr/>
        </p:nvSpPr>
        <p:spPr>
          <a:xfrm>
            <a:off x="6903720" y="26334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D8E2F0"/>
                </a:solidFill>
              </a:rPr>
              <a:t>auth</a:t>
            </a:r>
            <a:endParaRPr lang="en-US" sz="1320" dirty="0"/>
          </a:p>
        </p:txBody>
      </p:sp>
      <p:sp>
        <p:nvSpPr>
          <p:cNvPr id="17" name="Shape 15"/>
          <p:cNvSpPr/>
          <p:nvPr/>
        </p:nvSpPr>
        <p:spPr>
          <a:xfrm>
            <a:off x="868680" y="3072384"/>
            <a:ext cx="6858000" cy="0"/>
          </a:xfrm>
          <a:prstGeom prst="line">
            <a:avLst/>
          </a:prstGeom>
          <a:noFill/>
          <a:ln w="12700">
            <a:solidFill>
              <a:srgbClr val="24304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314553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EAF0FF"/>
                </a:solidFill>
              </a:rPr>
              <a:t>ms-personas</a:t>
            </a:r>
            <a:endParaRPr lang="en-US" sz="1320" dirty="0"/>
          </a:p>
        </p:txBody>
      </p:sp>
      <p:sp>
        <p:nvSpPr>
          <p:cNvPr id="19" name="Text 17"/>
          <p:cNvSpPr/>
          <p:nvPr/>
        </p:nvSpPr>
        <p:spPr>
          <a:xfrm>
            <a:off x="3749040" y="314553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D8E2F0"/>
                </a:solidFill>
              </a:rPr>
              <a:t>8002</a:t>
            </a:r>
            <a:endParaRPr lang="en-US" sz="1320" dirty="0"/>
          </a:p>
        </p:txBody>
      </p:sp>
      <p:sp>
        <p:nvSpPr>
          <p:cNvPr id="20" name="Text 18"/>
          <p:cNvSpPr/>
          <p:nvPr/>
        </p:nvSpPr>
        <p:spPr>
          <a:xfrm>
            <a:off x="4754880" y="314553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D8E2F0"/>
                </a:solidFill>
              </a:rPr>
              <a:t>personas_db</a:t>
            </a:r>
            <a:endParaRPr lang="en-US" sz="1320" dirty="0"/>
          </a:p>
        </p:txBody>
      </p:sp>
      <p:sp>
        <p:nvSpPr>
          <p:cNvPr id="21" name="Text 19"/>
          <p:cNvSpPr/>
          <p:nvPr/>
        </p:nvSpPr>
        <p:spPr>
          <a:xfrm>
            <a:off x="5943600" y="314553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D8E2F0"/>
                </a:solidFill>
              </a:rPr>
              <a:t>5433</a:t>
            </a:r>
            <a:endParaRPr lang="en-US" sz="1320" dirty="0"/>
          </a:p>
        </p:txBody>
      </p:sp>
      <p:sp>
        <p:nvSpPr>
          <p:cNvPr id="22" name="Text 20"/>
          <p:cNvSpPr/>
          <p:nvPr/>
        </p:nvSpPr>
        <p:spPr>
          <a:xfrm>
            <a:off x="6903720" y="314553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D8E2F0"/>
                </a:solidFill>
              </a:rPr>
              <a:t>personas</a:t>
            </a:r>
            <a:endParaRPr lang="en-US" sz="1320" dirty="0"/>
          </a:p>
        </p:txBody>
      </p:sp>
      <p:sp>
        <p:nvSpPr>
          <p:cNvPr id="23" name="Shape 21"/>
          <p:cNvSpPr/>
          <p:nvPr/>
        </p:nvSpPr>
        <p:spPr>
          <a:xfrm>
            <a:off x="868680" y="3584448"/>
            <a:ext cx="6858000" cy="0"/>
          </a:xfrm>
          <a:prstGeom prst="line">
            <a:avLst/>
          </a:prstGeom>
          <a:noFill/>
          <a:ln w="12700">
            <a:solidFill>
              <a:srgbClr val="24304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36576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EAF0FF"/>
                </a:solidFill>
              </a:rPr>
              <a:t>ms-automotores</a:t>
            </a:r>
            <a:endParaRPr lang="en-US" sz="1320" dirty="0"/>
          </a:p>
        </p:txBody>
      </p:sp>
      <p:sp>
        <p:nvSpPr>
          <p:cNvPr id="25" name="Text 23"/>
          <p:cNvSpPr/>
          <p:nvPr/>
        </p:nvSpPr>
        <p:spPr>
          <a:xfrm>
            <a:off x="3749040" y="365760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D8E2F0"/>
                </a:solidFill>
              </a:rPr>
              <a:t>8003</a:t>
            </a:r>
            <a:endParaRPr lang="en-US" sz="1320" dirty="0"/>
          </a:p>
        </p:txBody>
      </p:sp>
      <p:sp>
        <p:nvSpPr>
          <p:cNvPr id="26" name="Text 24"/>
          <p:cNvSpPr/>
          <p:nvPr/>
        </p:nvSpPr>
        <p:spPr>
          <a:xfrm>
            <a:off x="4754880" y="36576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D8E2F0"/>
                </a:solidFill>
              </a:rPr>
              <a:t>automotores_db</a:t>
            </a:r>
            <a:endParaRPr lang="en-US" sz="1320" dirty="0"/>
          </a:p>
        </p:txBody>
      </p:sp>
      <p:sp>
        <p:nvSpPr>
          <p:cNvPr id="27" name="Text 25"/>
          <p:cNvSpPr/>
          <p:nvPr/>
        </p:nvSpPr>
        <p:spPr>
          <a:xfrm>
            <a:off x="5943600" y="365760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D8E2F0"/>
                </a:solidFill>
              </a:rPr>
              <a:t>5434</a:t>
            </a:r>
            <a:endParaRPr lang="en-US" sz="1320" dirty="0"/>
          </a:p>
        </p:txBody>
      </p:sp>
      <p:sp>
        <p:nvSpPr>
          <p:cNvPr id="28" name="Text 26"/>
          <p:cNvSpPr/>
          <p:nvPr/>
        </p:nvSpPr>
        <p:spPr>
          <a:xfrm>
            <a:off x="6903720" y="365760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D8E2F0"/>
                </a:solidFill>
              </a:rPr>
              <a:t>automotores</a:t>
            </a:r>
            <a:endParaRPr lang="en-US" sz="1320" dirty="0"/>
          </a:p>
        </p:txBody>
      </p:sp>
      <p:sp>
        <p:nvSpPr>
          <p:cNvPr id="29" name="Shape 27"/>
          <p:cNvSpPr/>
          <p:nvPr/>
        </p:nvSpPr>
        <p:spPr>
          <a:xfrm>
            <a:off x="868680" y="4096512"/>
            <a:ext cx="6858000" cy="0"/>
          </a:xfrm>
          <a:prstGeom prst="line">
            <a:avLst/>
          </a:prstGeom>
          <a:noFill/>
          <a:ln w="12700">
            <a:solidFill>
              <a:srgbClr val="24304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41696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EAF0FF"/>
                </a:solidFill>
              </a:rPr>
              <a:t>ms-infracciones</a:t>
            </a:r>
            <a:endParaRPr lang="en-US" sz="1320" dirty="0"/>
          </a:p>
        </p:txBody>
      </p:sp>
      <p:sp>
        <p:nvSpPr>
          <p:cNvPr id="31" name="Text 29"/>
          <p:cNvSpPr/>
          <p:nvPr/>
        </p:nvSpPr>
        <p:spPr>
          <a:xfrm>
            <a:off x="3749040" y="416966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D8E2F0"/>
                </a:solidFill>
              </a:rPr>
              <a:t>8004</a:t>
            </a:r>
            <a:endParaRPr lang="en-US" sz="1320" dirty="0"/>
          </a:p>
        </p:txBody>
      </p:sp>
      <p:sp>
        <p:nvSpPr>
          <p:cNvPr id="32" name="Text 30"/>
          <p:cNvSpPr/>
          <p:nvPr/>
        </p:nvSpPr>
        <p:spPr>
          <a:xfrm>
            <a:off x="4754880" y="416966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D8E2F0"/>
                </a:solidFill>
              </a:rPr>
              <a:t>infracciones_db</a:t>
            </a:r>
            <a:endParaRPr lang="en-US" sz="1320" dirty="0"/>
          </a:p>
        </p:txBody>
      </p:sp>
      <p:sp>
        <p:nvSpPr>
          <p:cNvPr id="33" name="Text 31"/>
          <p:cNvSpPr/>
          <p:nvPr/>
        </p:nvSpPr>
        <p:spPr>
          <a:xfrm>
            <a:off x="5943600" y="416966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D8E2F0"/>
                </a:solidFill>
              </a:rPr>
              <a:t>5435</a:t>
            </a:r>
            <a:endParaRPr lang="en-US" sz="1320" dirty="0"/>
          </a:p>
        </p:txBody>
      </p:sp>
      <p:sp>
        <p:nvSpPr>
          <p:cNvPr id="34" name="Text 32"/>
          <p:cNvSpPr/>
          <p:nvPr/>
        </p:nvSpPr>
        <p:spPr>
          <a:xfrm>
            <a:off x="6903720" y="416966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D8E2F0"/>
                </a:solidFill>
              </a:rPr>
              <a:t>infracciones</a:t>
            </a:r>
            <a:endParaRPr lang="en-US" sz="1320" dirty="0"/>
          </a:p>
        </p:txBody>
      </p:sp>
      <p:sp>
        <p:nvSpPr>
          <p:cNvPr id="35" name="Shape 33"/>
          <p:cNvSpPr/>
          <p:nvPr/>
        </p:nvSpPr>
        <p:spPr>
          <a:xfrm>
            <a:off x="868680" y="4608576"/>
            <a:ext cx="6858000" cy="0"/>
          </a:xfrm>
          <a:prstGeom prst="line">
            <a:avLst/>
          </a:prstGeom>
          <a:noFill/>
          <a:ln w="12700">
            <a:solidFill>
              <a:srgbClr val="24304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46817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EAF0FF"/>
                </a:solidFill>
              </a:rPr>
              <a:t>ms-comparendos</a:t>
            </a:r>
            <a:endParaRPr lang="en-US" sz="1320" dirty="0"/>
          </a:p>
        </p:txBody>
      </p:sp>
      <p:sp>
        <p:nvSpPr>
          <p:cNvPr id="37" name="Text 35"/>
          <p:cNvSpPr/>
          <p:nvPr/>
        </p:nvSpPr>
        <p:spPr>
          <a:xfrm>
            <a:off x="3749040" y="46817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D8E2F0"/>
                </a:solidFill>
              </a:rPr>
              <a:t>8005</a:t>
            </a:r>
            <a:endParaRPr lang="en-US" sz="1320" dirty="0"/>
          </a:p>
        </p:txBody>
      </p:sp>
      <p:sp>
        <p:nvSpPr>
          <p:cNvPr id="38" name="Text 36"/>
          <p:cNvSpPr/>
          <p:nvPr/>
        </p:nvSpPr>
        <p:spPr>
          <a:xfrm>
            <a:off x="4754880" y="46817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D8E2F0"/>
                </a:solidFill>
              </a:rPr>
              <a:t>comparendos_db</a:t>
            </a:r>
            <a:endParaRPr lang="en-US" sz="1320" dirty="0"/>
          </a:p>
        </p:txBody>
      </p:sp>
      <p:sp>
        <p:nvSpPr>
          <p:cNvPr id="39" name="Text 37"/>
          <p:cNvSpPr/>
          <p:nvPr/>
        </p:nvSpPr>
        <p:spPr>
          <a:xfrm>
            <a:off x="5943600" y="468172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D8E2F0"/>
                </a:solidFill>
              </a:rPr>
              <a:t>5436</a:t>
            </a:r>
            <a:endParaRPr lang="en-US" sz="1320" dirty="0"/>
          </a:p>
        </p:txBody>
      </p:sp>
      <p:sp>
        <p:nvSpPr>
          <p:cNvPr id="40" name="Text 38"/>
          <p:cNvSpPr/>
          <p:nvPr/>
        </p:nvSpPr>
        <p:spPr>
          <a:xfrm>
            <a:off x="6903720" y="46817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dirty="0">
                <a:solidFill>
                  <a:srgbClr val="D8E2F0"/>
                </a:solidFill>
              </a:rPr>
              <a:t>comparendos</a:t>
            </a:r>
            <a:endParaRPr lang="en-US" sz="1320" dirty="0"/>
          </a:p>
        </p:txBody>
      </p:sp>
      <p:sp>
        <p:nvSpPr>
          <p:cNvPr id="41" name="Shape 39"/>
          <p:cNvSpPr/>
          <p:nvPr/>
        </p:nvSpPr>
        <p:spPr>
          <a:xfrm>
            <a:off x="8229600" y="2121408"/>
            <a:ext cx="3246120" cy="1325880"/>
          </a:xfrm>
          <a:prstGeom prst="roundRect">
            <a:avLst>
              <a:gd name="adj" fmla="val 5517"/>
            </a:avLst>
          </a:prstGeom>
          <a:solidFill>
            <a:srgbClr val="111827"/>
          </a:solidFill>
          <a:ln w="12700">
            <a:solidFill>
              <a:srgbClr val="2A3346"/>
            </a:solidFill>
            <a:prstDash val="solid"/>
          </a:ln>
          <a:effectLst>
            <a:outerShdw sx="100000" sy="100000" kx="0" ky="0" algn="bl" rotWithShape="0" blurRad="19050" dist="6350" dir="2700000">
              <a:srgbClr val="000000">
                <a:alpha val="14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8229600" y="2121408"/>
            <a:ext cx="3246120" cy="54864"/>
          </a:xfrm>
          <a:prstGeom prst="rect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94192" y="2249424"/>
            <a:ext cx="29169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INTEGRIDAD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94192" y="2432304"/>
            <a:ext cx="2916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0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Regla de integración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8394192" y="2816352"/>
            <a:ext cx="2916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6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existen claves foráneas físicas entre bases de datos distintas; las validaciones se resuelven vía HTTP/REST.</a:t>
            </a:r>
            <a:endParaRPr lang="en-US" sz="1260" dirty="0"/>
          </a:p>
        </p:txBody>
      </p:sp>
      <p:sp>
        <p:nvSpPr>
          <p:cNvPr id="46" name="Shape 44"/>
          <p:cNvSpPr/>
          <p:nvPr/>
        </p:nvSpPr>
        <p:spPr>
          <a:xfrm>
            <a:off x="8229600" y="3675888"/>
            <a:ext cx="3246120" cy="1325880"/>
          </a:xfrm>
          <a:prstGeom prst="roundRect">
            <a:avLst>
              <a:gd name="adj" fmla="val 5517"/>
            </a:avLst>
          </a:prstGeom>
          <a:solidFill>
            <a:srgbClr val="111827"/>
          </a:solidFill>
          <a:ln w="12700">
            <a:solidFill>
              <a:srgbClr val="2A3346"/>
            </a:solidFill>
            <a:prstDash val="solid"/>
          </a:ln>
          <a:effectLst>
            <a:outerShdw sx="100000" sy="100000" kx="0" ky="0" algn="bl" rotWithShape="0" blurRad="19050" dist="6350" dir="2700000">
              <a:srgbClr val="000000">
                <a:alpha val="14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8229600" y="3675888"/>
            <a:ext cx="3246120" cy="54864"/>
          </a:xfrm>
          <a:prstGeom prst="rect">
            <a:avLst/>
          </a:prstGeom>
          <a:solidFill>
            <a:srgbClr val="5ECB7C"/>
          </a:solidFill>
          <a:ln w="12700">
            <a:solidFill>
              <a:srgbClr val="5ECB7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394192" y="3803904"/>
            <a:ext cx="29169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ECB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CONSISTENCIA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394192" y="3986784"/>
            <a:ext cx="2916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0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Modelo de referencia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8394192" y="4370832"/>
            <a:ext cx="2916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6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 identificadores entre servicios son UUID. Los montos monetarios se gestionan como DECIMAL(12,2).</a:t>
            </a:r>
            <a:endParaRPr lang="en-US" sz="1260" dirty="0"/>
          </a:p>
        </p:txBody>
      </p:sp>
      <p:sp>
        <p:nvSpPr>
          <p:cNvPr id="51" name="Text 49"/>
          <p:cNvSpPr/>
          <p:nvPr/>
        </p:nvSpPr>
        <p:spPr>
          <a:xfrm>
            <a:off x="8321040" y="513892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8E2F0"/>
                </a:solidFill>
              </a:rPr>
              <a:t>Beneficio: aislamiento, trazabilidad y facilidad de mantenimiento por dominio.</a:t>
            </a:r>
            <a:endParaRPr lang="en-US" sz="1350" dirty="0"/>
          </a:p>
        </p:txBody>
      </p:sp>
      <p:sp>
        <p:nvSpPr>
          <p:cNvPr id="52" name="Text 50"/>
          <p:cNvSpPr/>
          <p:nvPr/>
        </p:nvSpPr>
        <p:spPr>
          <a:xfrm>
            <a:off x="11475720" y="27432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· FLUJO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8046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AF0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Creación y ciclo de vida del comparendo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valor del sistema está en orquestar validaciones externas y mantener una máquina de estados controlada.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1901952" y="2697480"/>
            <a:ext cx="256032" cy="201168"/>
          </a:xfrm>
          <a:prstGeom prst="chevron">
            <a:avLst/>
          </a:prstGeom>
          <a:solidFill>
            <a:srgbClr val="2A3346"/>
          </a:solidFill>
          <a:ln w="12700">
            <a:solidFill>
              <a:srgbClr val="2A33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10712" y="2697480"/>
            <a:ext cx="256032" cy="201168"/>
          </a:xfrm>
          <a:prstGeom prst="chevron">
            <a:avLst/>
          </a:prstGeom>
          <a:solidFill>
            <a:srgbClr val="2A3346"/>
          </a:solidFill>
          <a:ln w="12700">
            <a:solidFill>
              <a:srgbClr val="2A334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919472" y="2697480"/>
            <a:ext cx="256032" cy="201168"/>
          </a:xfrm>
          <a:prstGeom prst="chevron">
            <a:avLst/>
          </a:prstGeom>
          <a:solidFill>
            <a:srgbClr val="2A3346"/>
          </a:solidFill>
          <a:ln w="12700">
            <a:solidFill>
              <a:srgbClr val="2A334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28232" y="2697480"/>
            <a:ext cx="256032" cy="201168"/>
          </a:xfrm>
          <a:prstGeom prst="chevron">
            <a:avLst/>
          </a:prstGeom>
          <a:solidFill>
            <a:srgbClr val="2A3346"/>
          </a:solidFill>
          <a:ln w="12700">
            <a:solidFill>
              <a:srgbClr val="2A334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36992" y="2697480"/>
            <a:ext cx="256032" cy="201168"/>
          </a:xfrm>
          <a:prstGeom prst="chevron">
            <a:avLst/>
          </a:prstGeom>
          <a:solidFill>
            <a:srgbClr val="2A3346"/>
          </a:solidFill>
          <a:ln w="12700">
            <a:solidFill>
              <a:srgbClr val="2A334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2240280"/>
            <a:ext cx="1143000" cy="1097280"/>
          </a:xfrm>
          <a:prstGeom prst="roundRect">
            <a:avLst>
              <a:gd name="adj" fmla="val 6667"/>
            </a:avLst>
          </a:prstGeom>
          <a:solidFill>
            <a:srgbClr val="111827"/>
          </a:solidFill>
          <a:ln w="12700">
            <a:solidFill>
              <a:srgbClr val="2A3346"/>
            </a:solidFill>
            <a:prstDash val="solid"/>
          </a:ln>
          <a:effectLst>
            <a:outerShdw sx="100000" sy="100000" kx="0" ky="0" algn="bl" rotWithShape="0" blurRad="19050" dist="6350" dir="2700000">
              <a:srgbClr val="000000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051560" y="2386584"/>
            <a:ext cx="310896" cy="256032"/>
          </a:xfrm>
          <a:prstGeom prst="roundRect">
            <a:avLst>
              <a:gd name="adj" fmla="val 28571"/>
            </a:avLst>
          </a:prstGeom>
          <a:solidFill>
            <a:srgbClr val="F5A623">
              <a:alpha val="16000"/>
            </a:srgbClr>
          </a:solidFill>
          <a:ln w="12700">
            <a:solidFill>
              <a:srgbClr val="F5A623">
                <a:alpha val="8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2400300"/>
            <a:ext cx="310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04672" y="2670048"/>
            <a:ext cx="996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EAF0FF"/>
                </a:solidFill>
              </a:rPr>
              <a:t>Login</a:t>
            </a:r>
            <a:endParaRPr lang="en-US" sz="1240" dirty="0"/>
          </a:p>
        </p:txBody>
      </p:sp>
      <p:sp>
        <p:nvSpPr>
          <p:cNvPr id="14" name="Text 12"/>
          <p:cNvSpPr/>
          <p:nvPr/>
        </p:nvSpPr>
        <p:spPr>
          <a:xfrm>
            <a:off x="804672" y="2898648"/>
            <a:ext cx="996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7B0C2"/>
                </a:solidFill>
              </a:rPr>
              <a:t>Usuario autenticado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240280" y="2240280"/>
            <a:ext cx="1143000" cy="1097280"/>
          </a:xfrm>
          <a:prstGeom prst="roundRect">
            <a:avLst>
              <a:gd name="adj" fmla="val 6667"/>
            </a:avLst>
          </a:prstGeom>
          <a:solidFill>
            <a:srgbClr val="111827"/>
          </a:solidFill>
          <a:ln w="12700">
            <a:solidFill>
              <a:srgbClr val="2A3346"/>
            </a:solidFill>
            <a:prstDash val="solid"/>
          </a:ln>
          <a:effectLst>
            <a:outerShdw sx="100000" sy="100000" kx="0" ky="0" algn="bl" rotWithShape="0" blurRad="19050" dist="6350" dir="2700000">
              <a:srgbClr val="000000">
                <a:alpha val="14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560320" y="2386584"/>
            <a:ext cx="310896" cy="256032"/>
          </a:xfrm>
          <a:prstGeom prst="roundRect">
            <a:avLst>
              <a:gd name="adj" fmla="val 28571"/>
            </a:avLst>
          </a:prstGeom>
          <a:solidFill>
            <a:srgbClr val="F5A623">
              <a:alpha val="16000"/>
            </a:srgbClr>
          </a:solidFill>
          <a:ln w="12700">
            <a:solidFill>
              <a:srgbClr val="F5A623">
                <a:alpha val="8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60320" y="2400300"/>
            <a:ext cx="310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313432" y="2670048"/>
            <a:ext cx="996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EAF0FF"/>
                </a:solidFill>
              </a:rPr>
              <a:t>Persona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2313432" y="2898648"/>
            <a:ext cx="996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7B0C2"/>
                </a:solidFill>
              </a:rPr>
              <a:t>Consulta / registro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49040" y="2240280"/>
            <a:ext cx="1143000" cy="1097280"/>
          </a:xfrm>
          <a:prstGeom prst="roundRect">
            <a:avLst>
              <a:gd name="adj" fmla="val 6667"/>
            </a:avLst>
          </a:prstGeom>
          <a:solidFill>
            <a:srgbClr val="111827"/>
          </a:solidFill>
          <a:ln w="12700">
            <a:solidFill>
              <a:srgbClr val="2A3346"/>
            </a:solidFill>
            <a:prstDash val="solid"/>
          </a:ln>
          <a:effectLst>
            <a:outerShdw sx="100000" sy="100000" kx="0" ky="0" algn="bl" rotWithShape="0" blurRad="19050" dist="6350" dir="2700000">
              <a:srgbClr val="000000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069080" y="2386584"/>
            <a:ext cx="310896" cy="256032"/>
          </a:xfrm>
          <a:prstGeom prst="roundRect">
            <a:avLst>
              <a:gd name="adj" fmla="val 28571"/>
            </a:avLst>
          </a:prstGeom>
          <a:solidFill>
            <a:srgbClr val="F5A623">
              <a:alpha val="16000"/>
            </a:srgbClr>
          </a:solidFill>
          <a:ln w="12700">
            <a:solidFill>
              <a:srgbClr val="F5A623">
                <a:alpha val="8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69080" y="2400300"/>
            <a:ext cx="310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822192" y="2670048"/>
            <a:ext cx="996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EAF0FF"/>
                </a:solidFill>
              </a:rPr>
              <a:t>Automotor</a:t>
            </a:r>
            <a:endParaRPr lang="en-US" sz="1240" dirty="0"/>
          </a:p>
        </p:txBody>
      </p:sp>
      <p:sp>
        <p:nvSpPr>
          <p:cNvPr id="24" name="Text 22"/>
          <p:cNvSpPr/>
          <p:nvPr/>
        </p:nvSpPr>
        <p:spPr>
          <a:xfrm>
            <a:off x="3822192" y="2898648"/>
            <a:ext cx="996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7B0C2"/>
                </a:solidFill>
              </a:rPr>
              <a:t>Selección por placa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257800" y="2240280"/>
            <a:ext cx="1143000" cy="1097280"/>
          </a:xfrm>
          <a:prstGeom prst="roundRect">
            <a:avLst>
              <a:gd name="adj" fmla="val 6667"/>
            </a:avLst>
          </a:prstGeom>
          <a:solidFill>
            <a:srgbClr val="111827"/>
          </a:solidFill>
          <a:ln w="12700">
            <a:solidFill>
              <a:srgbClr val="2A3346"/>
            </a:solidFill>
            <a:prstDash val="solid"/>
          </a:ln>
          <a:effectLst>
            <a:outerShdw sx="100000" sy="100000" kx="0" ky="0" algn="bl" rotWithShape="0" blurRad="19050" dist="6350" dir="2700000">
              <a:srgbClr val="000000">
                <a:alpha val="14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577840" y="2386584"/>
            <a:ext cx="310896" cy="256032"/>
          </a:xfrm>
          <a:prstGeom prst="roundRect">
            <a:avLst>
              <a:gd name="adj" fmla="val 28571"/>
            </a:avLst>
          </a:prstGeom>
          <a:solidFill>
            <a:srgbClr val="F5A623">
              <a:alpha val="16000"/>
            </a:srgbClr>
          </a:solidFill>
          <a:ln w="12700">
            <a:solidFill>
              <a:srgbClr val="F5A623">
                <a:alpha val="8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77840" y="2400300"/>
            <a:ext cx="310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330952" y="2670048"/>
            <a:ext cx="996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EAF0FF"/>
                </a:solidFill>
              </a:rPr>
              <a:t>Infracción</a:t>
            </a:r>
            <a:endParaRPr lang="en-US" sz="1240" dirty="0"/>
          </a:p>
        </p:txBody>
      </p:sp>
      <p:sp>
        <p:nvSpPr>
          <p:cNvPr id="29" name="Text 27"/>
          <p:cNvSpPr/>
          <p:nvPr/>
        </p:nvSpPr>
        <p:spPr>
          <a:xfrm>
            <a:off x="5330952" y="2898648"/>
            <a:ext cx="996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7B0C2"/>
                </a:solidFill>
              </a:rPr>
              <a:t>Código + valor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766560" y="2240280"/>
            <a:ext cx="1143000" cy="1097280"/>
          </a:xfrm>
          <a:prstGeom prst="roundRect">
            <a:avLst>
              <a:gd name="adj" fmla="val 6667"/>
            </a:avLst>
          </a:prstGeom>
          <a:solidFill>
            <a:srgbClr val="111827"/>
          </a:solidFill>
          <a:ln w="12700">
            <a:solidFill>
              <a:srgbClr val="2A3346"/>
            </a:solidFill>
            <a:prstDash val="solid"/>
          </a:ln>
          <a:effectLst>
            <a:outerShdw sx="100000" sy="100000" kx="0" ky="0" algn="bl" rotWithShape="0" blurRad="19050" dist="6350" dir="2700000">
              <a:srgbClr val="000000">
                <a:alpha val="14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086600" y="2386584"/>
            <a:ext cx="310896" cy="256032"/>
          </a:xfrm>
          <a:prstGeom prst="roundRect">
            <a:avLst>
              <a:gd name="adj" fmla="val 28571"/>
            </a:avLst>
          </a:prstGeom>
          <a:solidFill>
            <a:srgbClr val="E8504A">
              <a:alpha val="16000"/>
            </a:srgbClr>
          </a:solidFill>
          <a:ln w="12700">
            <a:solidFill>
              <a:srgbClr val="E8504A">
                <a:alpha val="80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86600" y="2400300"/>
            <a:ext cx="310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5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39712" y="2670048"/>
            <a:ext cx="996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EAF0FF"/>
                </a:solidFill>
              </a:rPr>
              <a:t>Comparendo</a:t>
            </a:r>
            <a:endParaRPr lang="en-US" sz="1240" dirty="0"/>
          </a:p>
        </p:txBody>
      </p:sp>
      <p:sp>
        <p:nvSpPr>
          <p:cNvPr id="34" name="Text 32"/>
          <p:cNvSpPr/>
          <p:nvPr/>
        </p:nvSpPr>
        <p:spPr>
          <a:xfrm>
            <a:off x="6839712" y="2898648"/>
            <a:ext cx="996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7B0C2"/>
                </a:solidFill>
              </a:rPr>
              <a:t>POST /api/comparendos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8275320" y="2240280"/>
            <a:ext cx="1143000" cy="1097280"/>
          </a:xfrm>
          <a:prstGeom prst="roundRect">
            <a:avLst>
              <a:gd name="adj" fmla="val 6667"/>
            </a:avLst>
          </a:prstGeom>
          <a:solidFill>
            <a:srgbClr val="111827"/>
          </a:solidFill>
          <a:ln w="12700">
            <a:solidFill>
              <a:srgbClr val="2A3346"/>
            </a:solidFill>
            <a:prstDash val="solid"/>
          </a:ln>
          <a:effectLst>
            <a:outerShdw sx="100000" sy="100000" kx="0" ky="0" algn="bl" rotWithShape="0" blurRad="19050" dist="6350" dir="2700000">
              <a:srgbClr val="000000">
                <a:alpha val="14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8595360" y="2386584"/>
            <a:ext cx="310896" cy="256032"/>
          </a:xfrm>
          <a:prstGeom prst="roundRect">
            <a:avLst>
              <a:gd name="adj" fmla="val 28571"/>
            </a:avLst>
          </a:prstGeom>
          <a:solidFill>
            <a:srgbClr val="5ECB7C">
              <a:alpha val="16000"/>
            </a:srgbClr>
          </a:solidFill>
          <a:ln w="12700">
            <a:solidFill>
              <a:srgbClr val="5ECB7C">
                <a:alpha val="80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595360" y="2400300"/>
            <a:ext cx="310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CB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48472" y="2670048"/>
            <a:ext cx="996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40" b="1" dirty="0">
                <a:solidFill>
                  <a:srgbClr val="EAF0FF"/>
                </a:solidFill>
              </a:rPr>
              <a:t>Pago / anulación</a:t>
            </a:r>
            <a:endParaRPr lang="en-US" sz="1240" dirty="0"/>
          </a:p>
        </p:txBody>
      </p:sp>
      <p:sp>
        <p:nvSpPr>
          <p:cNvPr id="39" name="Text 37"/>
          <p:cNvSpPr/>
          <p:nvPr/>
        </p:nvSpPr>
        <p:spPr>
          <a:xfrm>
            <a:off x="8348472" y="2898648"/>
            <a:ext cx="996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7B0C2"/>
                </a:solidFill>
              </a:rPr>
              <a:t>PATCH según caso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914400" y="3931920"/>
            <a:ext cx="10332720" cy="1389888"/>
          </a:xfrm>
          <a:prstGeom prst="roundRect">
            <a:avLst>
              <a:gd name="adj" fmla="val 5263"/>
            </a:avLst>
          </a:prstGeom>
          <a:solidFill>
            <a:srgbClr val="0F172A"/>
          </a:solidFill>
          <a:ln w="12700">
            <a:solidFill>
              <a:srgbClr val="2A334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97280" y="411480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A623"/>
                </a:solidFill>
              </a:rPr>
              <a:t>Máquina de estados base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1920240" y="4498848"/>
            <a:ext cx="1508760" cy="420624"/>
          </a:xfrm>
          <a:prstGeom prst="roundRect">
            <a:avLst>
              <a:gd name="adj" fmla="val 17391"/>
            </a:avLst>
          </a:prstGeom>
          <a:solidFill>
            <a:srgbClr val="111827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20240" y="4613148"/>
            <a:ext cx="1508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A623"/>
                </a:solidFill>
              </a:rPr>
              <a:t>PENDIENTE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4663440" y="4498848"/>
            <a:ext cx="1508760" cy="420624"/>
          </a:xfrm>
          <a:prstGeom prst="roundRect">
            <a:avLst>
              <a:gd name="adj" fmla="val 17391"/>
            </a:avLst>
          </a:prstGeom>
          <a:solidFill>
            <a:srgbClr val="111827"/>
          </a:solidFill>
          <a:ln w="12700">
            <a:solidFill>
              <a:srgbClr val="5ECB7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663440" y="4613148"/>
            <a:ext cx="1508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ECB7C"/>
                </a:solidFill>
              </a:rPr>
              <a:t>PAGADO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7406640" y="4498848"/>
            <a:ext cx="1508760" cy="420624"/>
          </a:xfrm>
          <a:prstGeom prst="roundRect">
            <a:avLst>
              <a:gd name="adj" fmla="val 17391"/>
            </a:avLst>
          </a:prstGeom>
          <a:solidFill>
            <a:srgbClr val="111827"/>
          </a:solidFill>
          <a:ln w="12700">
            <a:solidFill>
              <a:srgbClr val="E8504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06640" y="4613148"/>
            <a:ext cx="1508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504A"/>
                </a:solidFill>
              </a:rPr>
              <a:t>ANULADO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3438144" y="4709160"/>
            <a:ext cx="822960" cy="0"/>
          </a:xfrm>
          <a:prstGeom prst="line">
            <a:avLst/>
          </a:prstGeom>
          <a:noFill/>
          <a:ln w="12700">
            <a:solidFill>
              <a:srgbClr val="5ECB7C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6163056" y="4709160"/>
            <a:ext cx="822960" cy="0"/>
          </a:xfrm>
          <a:prstGeom prst="line">
            <a:avLst/>
          </a:prstGeom>
          <a:noFill/>
          <a:ln w="12700">
            <a:solidFill>
              <a:srgbClr val="E8504A"/>
            </a:solidFill>
            <a:prstDash val="solid"/>
            <a:tailEnd type="triangle"/>
          </a:ln>
        </p:spPr>
      </p:sp>
      <p:sp>
        <p:nvSpPr>
          <p:cNvPr id="50" name="Text 48"/>
          <p:cNvSpPr/>
          <p:nvPr/>
        </p:nvSpPr>
        <p:spPr>
          <a:xfrm>
            <a:off x="3383280" y="5029200"/>
            <a:ext cx="1005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7B0C2"/>
                </a:solidFill>
              </a:rPr>
              <a:t>Pago válido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897880" y="5029200"/>
            <a:ext cx="1554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A7B0C2"/>
                </a:solidFill>
              </a:rPr>
              <a:t>Decisión administrativa</a:t>
            </a:r>
            <a:endParaRPr lang="en-US" sz="880" dirty="0"/>
          </a:p>
        </p:txBody>
      </p:sp>
      <p:sp>
        <p:nvSpPr>
          <p:cNvPr id="52" name="Text 50"/>
          <p:cNvSpPr/>
          <p:nvPr/>
        </p:nvSpPr>
        <p:spPr>
          <a:xfrm>
            <a:off x="8979408" y="452628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dirty="0">
                <a:solidFill>
                  <a:srgbClr val="D8E2F0"/>
                </a:solidFill>
              </a:rPr>
              <a:t>Reglas: número único y valor consistente con infracciones.</a:t>
            </a:r>
            <a:endParaRPr lang="en-US" sz="1060" dirty="0"/>
          </a:p>
        </p:txBody>
      </p:sp>
      <p:sp>
        <p:nvSpPr>
          <p:cNvPr id="53" name="Text 51"/>
          <p:cNvSpPr/>
          <p:nvPr/>
        </p:nvSpPr>
        <p:spPr>
          <a:xfrm>
            <a:off x="11475720" y="27432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· FRONTEND + SEGURIDAD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8046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AF0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React 19, rutas protegidas y flujo JWT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SPA administra el acceso, consume los microservicios y delega la validación central al servicio de autenticación.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31520" y="2048256"/>
            <a:ext cx="3749040" cy="3383280"/>
          </a:xfrm>
          <a:prstGeom prst="roundRect">
            <a:avLst>
              <a:gd name="adj" fmla="val 2162"/>
            </a:avLst>
          </a:prstGeom>
          <a:solidFill>
            <a:srgbClr val="111827"/>
          </a:solidFill>
          <a:ln w="12700">
            <a:solidFill>
              <a:srgbClr val="2A3346"/>
            </a:solidFill>
            <a:prstDash val="solid"/>
          </a:ln>
          <a:effectLst>
            <a:outerShdw sx="100000" sy="100000" kx="0" ky="0" algn="bl" rotWithShape="0" blurRad="19050" dist="6350" dir="2700000">
              <a:srgbClr val="000000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2048256"/>
            <a:ext cx="374904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176272"/>
            <a:ext cx="3419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96112" y="2359152"/>
            <a:ext cx="3419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0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Frontend administrativo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2743200"/>
            <a:ext cx="341985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6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 19 + TypeScript + Vite + TailwindCSS + React Query + React Hook Form.</a:t>
            </a:r>
            <a:endParaRPr lang="en-US" sz="1260" dirty="0"/>
          </a:p>
          <a:p>
            <a:pPr indent="0" marL="0">
              <a:buNone/>
            </a:pPr>
            <a:endParaRPr lang="en-US" sz="1260" dirty="0"/>
          </a:p>
          <a:p>
            <a:pPr indent="0" marL="0">
              <a:buNone/>
            </a:pPr>
            <a:r>
              <a:rPr lang="en-US" sz="126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Módulos principales: Login, Dashboard, Personas, Automotores, Infracciones, Comparendos y Usuarios.</a:t>
            </a:r>
            <a:endParaRPr lang="en-US" sz="1260" dirty="0"/>
          </a:p>
        </p:txBody>
      </p:sp>
      <p:sp>
        <p:nvSpPr>
          <p:cNvPr id="10" name="Shape 8"/>
          <p:cNvSpPr/>
          <p:nvPr/>
        </p:nvSpPr>
        <p:spPr>
          <a:xfrm>
            <a:off x="4800600" y="2048256"/>
            <a:ext cx="6675120" cy="3383280"/>
          </a:xfrm>
          <a:prstGeom prst="roundRect">
            <a:avLst>
              <a:gd name="adj" fmla="val 2162"/>
            </a:avLst>
          </a:prstGeom>
          <a:solidFill>
            <a:srgbClr val="111827"/>
          </a:solidFill>
          <a:ln w="12700">
            <a:solidFill>
              <a:srgbClr val="2A334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0" y="221284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A623"/>
                </a:solidFill>
              </a:rPr>
              <a:t>Flujo JWT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138928" y="2651760"/>
            <a:ext cx="109728" cy="1097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76672" y="2578608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EAF0FF"/>
                </a:solidFill>
              </a:rPr>
              <a:t>Login y emisión de tokens</a:t>
            </a:r>
            <a:endParaRPr lang="en-US" sz="1360" dirty="0"/>
          </a:p>
        </p:txBody>
      </p:sp>
      <p:sp>
        <p:nvSpPr>
          <p:cNvPr id="14" name="Shape 12"/>
          <p:cNvSpPr/>
          <p:nvPr/>
        </p:nvSpPr>
        <p:spPr>
          <a:xfrm>
            <a:off x="5138928" y="3163824"/>
            <a:ext cx="109728" cy="109728"/>
          </a:xfrm>
          <a:prstGeom prst="ellipse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76672" y="3090672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EAF0FF"/>
                </a:solidFill>
              </a:rPr>
              <a:t>Access token en memoria del cliente</a:t>
            </a:r>
            <a:endParaRPr lang="en-US" sz="1360" dirty="0"/>
          </a:p>
        </p:txBody>
      </p:sp>
      <p:sp>
        <p:nvSpPr>
          <p:cNvPr id="16" name="Shape 14"/>
          <p:cNvSpPr/>
          <p:nvPr/>
        </p:nvSpPr>
        <p:spPr>
          <a:xfrm>
            <a:off x="5138928" y="3675888"/>
            <a:ext cx="109728" cy="109728"/>
          </a:xfrm>
          <a:prstGeom prst="ellipse">
            <a:avLst/>
          </a:prstGeom>
          <a:solidFill>
            <a:srgbClr val="5ECB7C"/>
          </a:solidFill>
          <a:ln w="12700">
            <a:solidFill>
              <a:srgbClr val="5ECB7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76672" y="3602736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EAF0FF"/>
                </a:solidFill>
              </a:rPr>
              <a:t>Refresh token para renovar sesión</a:t>
            </a:r>
            <a:endParaRPr lang="en-US" sz="1360" dirty="0"/>
          </a:p>
        </p:txBody>
      </p:sp>
      <p:sp>
        <p:nvSpPr>
          <p:cNvPr id="18" name="Shape 16"/>
          <p:cNvSpPr/>
          <p:nvPr/>
        </p:nvSpPr>
        <p:spPr>
          <a:xfrm>
            <a:off x="5138928" y="4187952"/>
            <a:ext cx="109728" cy="109728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76672" y="4114800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EAF0FF"/>
                </a:solidFill>
              </a:rPr>
              <a:t>Gateway valida JWT antes de cada API</a:t>
            </a:r>
            <a:endParaRPr lang="en-US" sz="1360" dirty="0"/>
          </a:p>
        </p:txBody>
      </p:sp>
      <p:sp>
        <p:nvSpPr>
          <p:cNvPr id="20" name="Shape 18"/>
          <p:cNvSpPr/>
          <p:nvPr/>
        </p:nvSpPr>
        <p:spPr>
          <a:xfrm>
            <a:off x="5138928" y="4700016"/>
            <a:ext cx="109728" cy="109728"/>
          </a:xfrm>
          <a:prstGeom prst="ellipse">
            <a:avLst/>
          </a:prstGeom>
          <a:solidFill>
            <a:srgbClr val="E8504A"/>
          </a:solidFill>
          <a:ln w="12700">
            <a:solidFill>
              <a:srgbClr val="E850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76672" y="4626864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EAF0FF"/>
                </a:solidFill>
              </a:rPr>
              <a:t>Si el refresh falla, vuelve al login</a:t>
            </a:r>
            <a:endParaRPr lang="en-US" sz="1360" dirty="0"/>
          </a:p>
        </p:txBody>
      </p:sp>
      <p:sp>
        <p:nvSpPr>
          <p:cNvPr id="22" name="Shape 20"/>
          <p:cNvSpPr/>
          <p:nvPr/>
        </p:nvSpPr>
        <p:spPr>
          <a:xfrm>
            <a:off x="9966960" y="2542032"/>
            <a:ext cx="1060704" cy="2240280"/>
          </a:xfrm>
          <a:prstGeom prst="roundRect">
            <a:avLst>
              <a:gd name="adj" fmla="val 6897"/>
            </a:avLst>
          </a:prstGeom>
          <a:solidFill>
            <a:srgbClr val="0F172A"/>
          </a:solidFill>
          <a:ln w="12700">
            <a:solidFill>
              <a:srgbClr val="2A334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0" y="2743200"/>
            <a:ext cx="85953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8E2F0"/>
                </a:solidFill>
              </a:rPr>
              <a:t>Roles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D8E2F0"/>
                </a:solidFill>
              </a:rPr>
              <a:t>admin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D8E2F0"/>
                </a:solidFill>
              </a:rPr>
              <a:t>agente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D8E2F0"/>
                </a:solidFill>
              </a:rPr>
              <a:t>supervisor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D8E2F0"/>
                </a:solidFill>
              </a:rPr>
              <a:t>ciudadano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475720" y="27432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· DESPLIEGUE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8046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AF0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Dos formas de ejecutar el proyecto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proyecto completo puede correr en local con Docker Compose o como entorno provisionado con Vagrant + Ansible.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77240" y="1920240"/>
            <a:ext cx="5212080" cy="3337560"/>
          </a:xfrm>
          <a:prstGeom prst="roundRect">
            <a:avLst>
              <a:gd name="adj" fmla="val 2192"/>
            </a:avLst>
          </a:prstGeom>
          <a:solidFill>
            <a:srgbClr val="111827"/>
          </a:solidFill>
          <a:ln w="12700">
            <a:solidFill>
              <a:srgbClr val="2A3346"/>
            </a:solidFill>
            <a:prstDash val="solid"/>
          </a:ln>
          <a:effectLst>
            <a:outerShdw sx="100000" sy="100000" kx="0" ky="0" algn="bl" rotWithShape="0" blurRad="19050" dist="6350" dir="2700000">
              <a:srgbClr val="000000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920240"/>
            <a:ext cx="521208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1832" y="2048256"/>
            <a:ext cx="4882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41832" y="2231136"/>
            <a:ext cx="4882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0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Modo 1 · Docker local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41832" y="2615184"/>
            <a:ext cx="488289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6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Uso rápido para desarrollo y demostración.</a:t>
            </a:r>
            <a:endParaRPr lang="en-US" sz="1260" dirty="0"/>
          </a:p>
          <a:p>
            <a:pPr indent="0" marL="0">
              <a:buNone/>
            </a:pPr>
            <a:endParaRPr lang="en-US" sz="1260" dirty="0"/>
          </a:p>
          <a:p>
            <a:pPr indent="0" marL="0">
              <a:buNone/>
            </a:pPr>
            <a:r>
              <a:rPr lang="en-US" sz="126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docker compose up --build -d</a:t>
            </a:r>
            <a:endParaRPr lang="en-US" sz="1260" dirty="0"/>
          </a:p>
          <a:p>
            <a:pPr indent="0" marL="0">
              <a:buNone/>
            </a:pPr>
            <a:r>
              <a:rPr lang="en-US" sz="126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Frontend en http://localhost</a:t>
            </a:r>
            <a:endParaRPr lang="en-US" sz="1260" dirty="0"/>
          </a:p>
          <a:p>
            <a:pPr indent="0" marL="0">
              <a:buNone/>
            </a:pPr>
            <a:r>
              <a:rPr lang="en-US" sz="126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El ecosistema simula la red de producción.</a:t>
            </a:r>
            <a:endParaRPr lang="en-US" sz="1260" dirty="0"/>
          </a:p>
          <a:p>
            <a:pPr indent="0" marL="0">
              <a:buNone/>
            </a:pPr>
            <a:r>
              <a:rPr lang="en-US" sz="126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Útil para pruebas funcionales y desarrollo integrado.</a:t>
            </a:r>
            <a:endParaRPr lang="en-US" sz="1260" dirty="0"/>
          </a:p>
        </p:txBody>
      </p:sp>
      <p:sp>
        <p:nvSpPr>
          <p:cNvPr id="10" name="Shape 8"/>
          <p:cNvSpPr/>
          <p:nvPr/>
        </p:nvSpPr>
        <p:spPr>
          <a:xfrm>
            <a:off x="6217920" y="1920240"/>
            <a:ext cx="5212080" cy="3337560"/>
          </a:xfrm>
          <a:prstGeom prst="roundRect">
            <a:avLst>
              <a:gd name="adj" fmla="val 2192"/>
            </a:avLst>
          </a:prstGeom>
          <a:solidFill>
            <a:srgbClr val="111827"/>
          </a:solidFill>
          <a:ln w="12700">
            <a:solidFill>
              <a:srgbClr val="2A3346"/>
            </a:solidFill>
            <a:prstDash val="solid"/>
          </a:ln>
          <a:effectLst>
            <a:outerShdw sx="100000" sy="100000" kx="0" ky="0" algn="bl" rotWithShape="0" blurRad="19050" dist="6350" dir="2700000">
              <a:srgbClr val="000000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920240"/>
            <a:ext cx="5212080" cy="54864"/>
          </a:xfrm>
          <a:prstGeom prst="rect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82512" y="2048256"/>
            <a:ext cx="4882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PROVISIONADO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82512" y="2231136"/>
            <a:ext cx="4882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0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Modo 2 · Vagrant + Ansible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382512" y="2615184"/>
            <a:ext cx="488289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6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Entorno académico con 3 VMs.</a:t>
            </a:r>
            <a:endParaRPr lang="en-US" sz="1260" dirty="0"/>
          </a:p>
          <a:p>
            <a:pPr indent="0" marL="0">
              <a:buNone/>
            </a:pPr>
            <a:endParaRPr lang="en-US" sz="1260" dirty="0"/>
          </a:p>
          <a:p>
            <a:pPr indent="0" marL="0">
              <a:buNone/>
            </a:pPr>
            <a:r>
              <a:rPr lang="en-US" sz="126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vagrant up</a:t>
            </a:r>
            <a:endParaRPr lang="en-US" sz="1260" dirty="0"/>
          </a:p>
          <a:p>
            <a:pPr indent="0" marL="0">
              <a:buNone/>
            </a:pPr>
            <a:r>
              <a:rPr lang="en-US" sz="126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DNS local + API + Web/Gateway</a:t>
            </a:r>
            <a:endParaRPr lang="en-US" sz="1260" dirty="0"/>
          </a:p>
          <a:p>
            <a:pPr indent="0" marL="0">
              <a:buNone/>
            </a:pPr>
            <a:r>
              <a:rPr lang="en-US" sz="126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PM2 para procesos Node.js</a:t>
            </a:r>
            <a:endParaRPr lang="en-US" sz="1260" dirty="0"/>
          </a:p>
          <a:p>
            <a:pPr indent="0" marL="0">
              <a:buNone/>
            </a:pPr>
            <a:r>
              <a:rPr lang="en-US" sz="126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Nginx para servir la SPA y enrutar APIs con JWT.</a:t>
            </a:r>
            <a:endParaRPr lang="en-US" sz="1260" dirty="0"/>
          </a:p>
        </p:txBody>
      </p:sp>
      <p:sp>
        <p:nvSpPr>
          <p:cNvPr id="15" name="Shape 13"/>
          <p:cNvSpPr/>
          <p:nvPr/>
        </p:nvSpPr>
        <p:spPr>
          <a:xfrm>
            <a:off x="1005840" y="5440680"/>
            <a:ext cx="10149840" cy="411480"/>
          </a:xfrm>
          <a:prstGeom prst="roundRect">
            <a:avLst>
              <a:gd name="adj" fmla="val 17778"/>
            </a:avLst>
          </a:prstGeom>
          <a:solidFill>
            <a:srgbClr val="0F172A"/>
          </a:solidFill>
          <a:ln w="12700">
            <a:solidFill>
              <a:srgbClr val="2A334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43000" y="5559552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70" dirty="0">
                <a:solidFill>
                  <a:srgbClr val="D8E2F0"/>
                </a:solidFill>
              </a:rPr>
              <a:t>URLs demo: simcomp.co · api.simcomp.co:8001/api/docs · api.simcomp.co:8002/api/health · … · api.simcomp.co:8005/api/health</a:t>
            </a:r>
            <a:endParaRPr lang="en-US" sz="1170" dirty="0"/>
          </a:p>
        </p:txBody>
      </p:sp>
      <p:sp>
        <p:nvSpPr>
          <p:cNvPr id="17" name="Text 15"/>
          <p:cNvSpPr/>
          <p:nvPr/>
        </p:nvSpPr>
        <p:spPr>
          <a:xfrm>
            <a:off x="11475720" y="27432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· DEMO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8046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AF0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Secuencia sugerida para la sustentación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exposición sólida muestra el recorrido completo desde autenticación hasta el pago del comparendo.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22960" y="1920240"/>
            <a:ext cx="5120640" cy="841248"/>
          </a:xfrm>
          <a:prstGeom prst="roundRect">
            <a:avLst>
              <a:gd name="adj" fmla="val 8696"/>
            </a:avLst>
          </a:prstGeom>
          <a:solidFill>
            <a:srgbClr val="111827"/>
          </a:solidFill>
          <a:ln w="12700">
            <a:solidFill>
              <a:srgbClr val="2A3346"/>
            </a:solidFill>
            <a:prstDash val="solid"/>
          </a:ln>
          <a:effectLst>
            <a:outerShdw sx="100000" sy="100000" kx="0" ky="0" algn="bl" rotWithShape="0" blurRad="19050" dist="6350" dir="2700000">
              <a:srgbClr val="000000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87552" y="2121408"/>
            <a:ext cx="420624" cy="256032"/>
          </a:xfrm>
          <a:prstGeom prst="roundRect">
            <a:avLst>
              <a:gd name="adj" fmla="val 28571"/>
            </a:avLst>
          </a:prstGeom>
          <a:solidFill>
            <a:srgbClr val="F5A623">
              <a:alpha val="16000"/>
            </a:srgbClr>
          </a:solidFill>
          <a:ln w="12700">
            <a:solidFill>
              <a:srgbClr val="F5A623">
                <a:alpha val="8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2135124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572768" y="212140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AF0FF"/>
                </a:solidFill>
              </a:rPr>
              <a:t>Ingresar al login y validar roles del sistema.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822960" y="3063240"/>
            <a:ext cx="5120640" cy="841248"/>
          </a:xfrm>
          <a:prstGeom prst="roundRect">
            <a:avLst>
              <a:gd name="adj" fmla="val 8696"/>
            </a:avLst>
          </a:prstGeom>
          <a:solidFill>
            <a:srgbClr val="111827"/>
          </a:solidFill>
          <a:ln w="12700">
            <a:solidFill>
              <a:srgbClr val="2A3346"/>
            </a:solidFill>
            <a:prstDash val="solid"/>
          </a:ln>
          <a:effectLst>
            <a:outerShdw sx="100000" sy="100000" kx="0" ky="0" algn="bl" rotWithShape="0" blurRad="19050" dist="6350" dir="2700000">
              <a:srgbClr val="000000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87552" y="3264408"/>
            <a:ext cx="420624" cy="256032"/>
          </a:xfrm>
          <a:prstGeom prst="roundRect">
            <a:avLst>
              <a:gd name="adj" fmla="val 28571"/>
            </a:avLst>
          </a:prstGeom>
          <a:solidFill>
            <a:srgbClr val="4A9EFF">
              <a:alpha val="16000"/>
            </a:srgbClr>
          </a:solidFill>
          <a:ln w="12700">
            <a:solidFill>
              <a:srgbClr val="4A9EFF">
                <a:alpha val="8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3278124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9E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572768" y="326440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AF0FF"/>
                </a:solidFill>
              </a:rPr>
              <a:t>Mostrar dashboard y navegación por módulos.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822960" y="4206240"/>
            <a:ext cx="5120640" cy="841248"/>
          </a:xfrm>
          <a:prstGeom prst="roundRect">
            <a:avLst>
              <a:gd name="adj" fmla="val 8696"/>
            </a:avLst>
          </a:prstGeom>
          <a:solidFill>
            <a:srgbClr val="111827"/>
          </a:solidFill>
          <a:ln w="12700">
            <a:solidFill>
              <a:srgbClr val="2A3346"/>
            </a:solidFill>
            <a:prstDash val="solid"/>
          </a:ln>
          <a:effectLst>
            <a:outerShdw sx="100000" sy="100000" kx="0" ky="0" algn="bl" rotWithShape="0" blurRad="19050" dist="6350" dir="2700000">
              <a:srgbClr val="000000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87552" y="4407408"/>
            <a:ext cx="420624" cy="256032"/>
          </a:xfrm>
          <a:prstGeom prst="roundRect">
            <a:avLst>
              <a:gd name="adj" fmla="val 28571"/>
            </a:avLst>
          </a:prstGeom>
          <a:solidFill>
            <a:srgbClr val="5ECB7C">
              <a:alpha val="16000"/>
            </a:srgbClr>
          </a:solidFill>
          <a:ln w="12700">
            <a:solidFill>
              <a:srgbClr val="5ECB7C">
                <a:alpha val="8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4421124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CB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572768" y="440740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AF0FF"/>
                </a:solidFill>
              </a:rPr>
              <a:t>Consultar o registrar persona y su licencia.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6172200" y="1920240"/>
            <a:ext cx="5120640" cy="841248"/>
          </a:xfrm>
          <a:prstGeom prst="roundRect">
            <a:avLst>
              <a:gd name="adj" fmla="val 8696"/>
            </a:avLst>
          </a:prstGeom>
          <a:solidFill>
            <a:srgbClr val="111827"/>
          </a:solidFill>
          <a:ln w="12700">
            <a:solidFill>
              <a:srgbClr val="2A3346"/>
            </a:solidFill>
            <a:prstDash val="solid"/>
          </a:ln>
          <a:effectLst>
            <a:outerShdw sx="100000" sy="100000" kx="0" ky="0" algn="bl" rotWithShape="0" blurRad="19050" dist="6350" dir="2700000">
              <a:srgbClr val="000000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36792" y="2121408"/>
            <a:ext cx="420624" cy="256032"/>
          </a:xfrm>
          <a:prstGeom prst="roundRect">
            <a:avLst>
              <a:gd name="adj" fmla="val 28571"/>
            </a:avLst>
          </a:prstGeom>
          <a:solidFill>
            <a:srgbClr val="A78BFA">
              <a:alpha val="16000"/>
            </a:srgbClr>
          </a:solidFill>
          <a:ln w="12700">
            <a:solidFill>
              <a:srgbClr val="A78BFA">
                <a:alpha val="8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36792" y="2135124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8B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922008" y="212140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AF0FF"/>
                </a:solidFill>
              </a:rPr>
              <a:t>Consultar automotor y verificar placa / propietario.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172200" y="3063240"/>
            <a:ext cx="5120640" cy="841248"/>
          </a:xfrm>
          <a:prstGeom prst="roundRect">
            <a:avLst>
              <a:gd name="adj" fmla="val 8696"/>
            </a:avLst>
          </a:prstGeom>
          <a:solidFill>
            <a:srgbClr val="111827"/>
          </a:solidFill>
          <a:ln w="12700">
            <a:solidFill>
              <a:srgbClr val="2A3346"/>
            </a:solidFill>
            <a:prstDash val="solid"/>
          </a:ln>
          <a:effectLst>
            <a:outerShdw sx="100000" sy="100000" kx="0" ky="0" algn="bl" rotWithShape="0" blurRad="19050" dist="6350" dir="2700000">
              <a:srgbClr val="000000">
                <a:alpha val="14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36792" y="3264408"/>
            <a:ext cx="420624" cy="256032"/>
          </a:xfrm>
          <a:prstGeom prst="roundRect">
            <a:avLst>
              <a:gd name="adj" fmla="val 28571"/>
            </a:avLst>
          </a:prstGeom>
          <a:solidFill>
            <a:srgbClr val="E8504A">
              <a:alpha val="16000"/>
            </a:srgbClr>
          </a:solidFill>
          <a:ln w="12700">
            <a:solidFill>
              <a:srgbClr val="E8504A">
                <a:alpha val="80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36792" y="3278124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50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922008" y="326440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AF0FF"/>
                </a:solidFill>
              </a:rPr>
              <a:t>Seleccionar infracción y crear comparendo.</a:t>
            </a:r>
            <a:endParaRPr lang="en-US" sz="1550" dirty="0"/>
          </a:p>
        </p:txBody>
      </p:sp>
      <p:sp>
        <p:nvSpPr>
          <p:cNvPr id="25" name="Shape 23"/>
          <p:cNvSpPr/>
          <p:nvPr/>
        </p:nvSpPr>
        <p:spPr>
          <a:xfrm>
            <a:off x="6172200" y="4206240"/>
            <a:ext cx="5120640" cy="841248"/>
          </a:xfrm>
          <a:prstGeom prst="roundRect">
            <a:avLst>
              <a:gd name="adj" fmla="val 8696"/>
            </a:avLst>
          </a:prstGeom>
          <a:solidFill>
            <a:srgbClr val="111827"/>
          </a:solidFill>
          <a:ln w="12700">
            <a:solidFill>
              <a:srgbClr val="2A3346"/>
            </a:solidFill>
            <a:prstDash val="solid"/>
          </a:ln>
          <a:effectLst>
            <a:outerShdw sx="100000" sy="100000" kx="0" ky="0" algn="bl" rotWithShape="0" blurRad="19050" dist="6350" dir="2700000">
              <a:srgbClr val="000000">
                <a:alpha val="14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336792" y="4407408"/>
            <a:ext cx="420624" cy="256032"/>
          </a:xfrm>
          <a:prstGeom prst="roundRect">
            <a:avLst>
              <a:gd name="adj" fmla="val 28571"/>
            </a:avLst>
          </a:prstGeom>
          <a:solidFill>
            <a:srgbClr val="F5A623">
              <a:alpha val="16000"/>
            </a:srgbClr>
          </a:solidFill>
          <a:ln w="12700">
            <a:solidFill>
              <a:srgbClr val="F5A623">
                <a:alpha val="8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36792" y="4421124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A6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922008" y="440740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AF0FF"/>
                </a:solidFill>
              </a:rPr>
              <a:t>Consultar detalle, pagar o anular y revisar estado.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868680" y="5532120"/>
            <a:ext cx="10927080" cy="393192"/>
          </a:xfrm>
          <a:prstGeom prst="roundRect">
            <a:avLst>
              <a:gd name="adj" fmla="val 18605"/>
            </a:avLst>
          </a:prstGeom>
          <a:solidFill>
            <a:srgbClr val="0F172A"/>
          </a:solidFill>
          <a:ln w="12700">
            <a:solidFill>
              <a:srgbClr val="2A334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51560" y="5641848"/>
            <a:ext cx="10515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5A623"/>
                </a:solidFill>
              </a:rPr>
              <a:t>Tip: si preguntas por puertos del backend, la respuesta correcta es 8001, 8002, 8003, 8004 y 8005.</a:t>
            </a:r>
            <a:endParaRPr lang="en-US" sz="1220" dirty="0"/>
          </a:p>
        </p:txBody>
      </p:sp>
      <p:sp>
        <p:nvSpPr>
          <p:cNvPr id="31" name="Text 29"/>
          <p:cNvSpPr/>
          <p:nvPr/>
        </p:nvSpPr>
        <p:spPr>
          <a:xfrm>
            <a:off x="11475720" y="27432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868680"/>
            <a:ext cx="10789920" cy="5212080"/>
          </a:xfrm>
          <a:prstGeom prst="roundRect">
            <a:avLst>
              <a:gd name="adj" fmla="val 1404"/>
            </a:avLst>
          </a:prstGeom>
          <a:solidFill>
            <a:srgbClr val="0D1423"/>
          </a:solidFill>
          <a:ln w="12700">
            <a:solidFill>
              <a:srgbClr val="2530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11430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A6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SIMCOMP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60120" y="15727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F0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Conclusión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60120" y="2148840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D8E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proyecto demuestra una arquitectura distribuida, ejecutable y coherente con principios de dominio, seguridad y despliegue en infraestructura virtualizada.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960120" y="3246120"/>
            <a:ext cx="2971800" cy="676656"/>
          </a:xfrm>
          <a:prstGeom prst="roundRect">
            <a:avLst>
              <a:gd name="adj" fmla="val 10811"/>
            </a:avLst>
          </a:prstGeom>
          <a:solidFill>
            <a:srgbClr val="111827"/>
          </a:solidFill>
          <a:ln w="12700">
            <a:solidFill>
              <a:srgbClr val="2A334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" y="3465576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A623"/>
                </a:solidFill>
              </a:rPr>
              <a:t>5 microservicios backend reales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297680" y="3246120"/>
            <a:ext cx="2971800" cy="676656"/>
          </a:xfrm>
          <a:prstGeom prst="roundRect">
            <a:avLst>
              <a:gd name="adj" fmla="val 10811"/>
            </a:avLst>
          </a:prstGeom>
          <a:solidFill>
            <a:srgbClr val="111827"/>
          </a:solidFill>
          <a:ln w="12700">
            <a:solidFill>
              <a:srgbClr val="2A334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71416" y="3465576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A9EFF"/>
                </a:solidFill>
              </a:rPr>
              <a:t>Puertos correctos: 8001–8005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960120" y="4160520"/>
            <a:ext cx="2971800" cy="676656"/>
          </a:xfrm>
          <a:prstGeom prst="roundRect">
            <a:avLst>
              <a:gd name="adj" fmla="val 10811"/>
            </a:avLst>
          </a:prstGeom>
          <a:solidFill>
            <a:srgbClr val="111827"/>
          </a:solidFill>
          <a:ln w="12700">
            <a:solidFill>
              <a:srgbClr val="2A334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33856" y="4379976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ECB7C"/>
                </a:solidFill>
              </a:rPr>
              <a:t>Frontend React + JWT + Gateway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297680" y="4160520"/>
            <a:ext cx="2971800" cy="676656"/>
          </a:xfrm>
          <a:prstGeom prst="roundRect">
            <a:avLst>
              <a:gd name="adj" fmla="val 10811"/>
            </a:avLst>
          </a:prstGeom>
          <a:solidFill>
            <a:srgbClr val="111827"/>
          </a:solidFill>
          <a:ln w="12700">
            <a:solidFill>
              <a:srgbClr val="2A334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71416" y="4379976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78BFA"/>
                </a:solidFill>
              </a:rPr>
              <a:t>Docker local y Vagrant en 3 VMs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458200" y="1371600"/>
            <a:ext cx="2286000" cy="3566160"/>
          </a:xfrm>
          <a:prstGeom prst="roundRect">
            <a:avLst>
              <a:gd name="adj" fmla="val 3200"/>
            </a:avLst>
          </a:prstGeom>
          <a:solidFill>
            <a:srgbClr val="111827"/>
          </a:solidFill>
          <a:ln w="12700">
            <a:solidFill>
              <a:srgbClr val="2A3346"/>
            </a:solidFill>
            <a:prstDash val="solid"/>
          </a:ln>
          <a:effectLst>
            <a:outerShdw sx="100000" sy="100000" kx="0" ky="0" algn="bl" rotWithShape="0" blurRad="19050" dist="6350" dir="2700000">
              <a:srgbClr val="000000">
                <a:alpha val="14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869680" y="18288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AF0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Q&amp;A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8778240" y="27889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A6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Gracias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641080" y="32186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7B0C2"/>
                </a:solidFill>
              </a:rPr>
              <a:t>¿Preguntas?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475720" y="27432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7B0C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SIMCOMP — Sistema de Comparendos de Tránsito</dc:title>
  <dc:subject>SIMCOMP - Presentación final</dc:subject>
  <dc:creator>OpenAI</dc:creator>
  <cp:lastModifiedBy>OpenAI</cp:lastModifiedBy>
  <cp:revision>1</cp:revision>
  <dcterms:created xsi:type="dcterms:W3CDTF">2026-03-20T03:25:31Z</dcterms:created>
  <dcterms:modified xsi:type="dcterms:W3CDTF">2026-03-20T03:25:31Z</dcterms:modified>
</cp:coreProperties>
</file>